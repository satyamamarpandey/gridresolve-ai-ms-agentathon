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56" r:id="rId3"/>
    <p:sldId id="257" r:id="rId4"/>
    <p:sldId id="258" r:id="rId5"/>
    <p:sldId id="259" r:id="rId6"/>
    <p:sldId id="260" r:id="rId7"/>
    <p:sldId id="261" r:id="rId8"/>
    <p:sldId id="262"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atyamamarpandey/GridResolve-AI-MS-Agentatho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22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0789920" cy="301752"/>
          </a:xfrm>
          <a:prstGeom prst="rect">
            <a:avLst/>
          </a:prstGeom>
          <a:noFill/>
        </p:spPr>
        <p:txBody>
          <a:bodyPr wrap="square" lIns="0" tIns="0" rIns="0" bIns="0" anchor="ctr">
            <a:spAutoFit/>
          </a:bodyPr>
          <a:lstStyle/>
          <a:p>
            <a:pPr algn="l"/>
            <a:r>
              <a:rPr sz="1200" b="1">
                <a:solidFill>
                  <a:srgbClr val="1A6A8F"/>
                </a:solidFill>
                <a:latin typeface="Segoe UI"/>
              </a:rPr>
              <a:t>GRIDRESOLVE AI</a:t>
            </a:r>
          </a:p>
        </p:txBody>
      </p:sp>
      <p:sp>
        <p:nvSpPr>
          <p:cNvPr id="4" name="Rectangle 3"/>
          <p:cNvSpPr/>
          <p:nvPr/>
        </p:nvSpPr>
        <p:spPr>
          <a:xfrm>
            <a:off x="502920" y="1481328"/>
            <a:ext cx="11155680" cy="16459"/>
          </a:xfrm>
          <a:prstGeom prst="rect">
            <a:avLst/>
          </a:prstGeom>
          <a:solidFill>
            <a:srgbClr val="CB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19088"/>
            <a:ext cx="11155680" cy="283464"/>
          </a:xfrm>
          <a:prstGeom prst="rect">
            <a:avLst/>
          </a:prstGeom>
          <a:noFill/>
        </p:spPr>
        <p:txBody>
          <a:bodyPr wrap="square" lIns="0" tIns="0" rIns="0" bIns="0" anchor="ctr">
            <a:spAutoFit/>
          </a:bodyPr>
          <a:lstStyle/>
          <a:p>
            <a:pPr algn="l"/>
            <a:r>
              <a:rPr sz="900" b="0">
                <a:solidFill>
                  <a:srgbClr val="5F6A78"/>
                </a:solidFill>
                <a:latin typeface="Segoe UI"/>
              </a:rPr>
              <a:t>Microsoft Agent-a-thon, Level 3 Architect   |   Synthetic data only   |   Verified on hosted Foundry. Production path built and tested locally, not yet connected</a:t>
            </a:r>
          </a:p>
        </p:txBody>
      </p:sp>
      <p:sp>
        <p:nvSpPr>
          <p:cNvPr id="6" name="TextBox 5"/>
          <p:cNvSpPr txBox="1"/>
          <p:nvPr/>
        </p:nvSpPr>
        <p:spPr>
          <a:xfrm>
            <a:off x="502920" y="603504"/>
            <a:ext cx="10972800" cy="667512"/>
          </a:xfrm>
          <a:prstGeom prst="rect">
            <a:avLst/>
          </a:prstGeom>
          <a:noFill/>
        </p:spPr>
        <p:txBody>
          <a:bodyPr wrap="square" lIns="0" tIns="0" rIns="0" bIns="0" anchor="ctr">
            <a:spAutoFit/>
          </a:bodyPr>
          <a:lstStyle/>
          <a:p>
            <a:pPr algn="l"/>
            <a:r>
              <a:rPr sz="3200" b="1">
                <a:solidFill>
                  <a:srgbClr val="1E252D"/>
                </a:solidFill>
                <a:latin typeface="Segoe UI"/>
              </a:rPr>
              <a:t>Evidence-first utility billing resolution</a:t>
            </a:r>
          </a:p>
        </p:txBody>
      </p:sp>
      <p:sp>
        <p:nvSpPr>
          <p:cNvPr id="7" name="TextBox 6"/>
          <p:cNvSpPr txBox="1"/>
          <p:nvPr/>
        </p:nvSpPr>
        <p:spPr>
          <a:xfrm>
            <a:off x="502920" y="1115568"/>
            <a:ext cx="10972800" cy="320040"/>
          </a:xfrm>
          <a:prstGeom prst="rect">
            <a:avLst/>
          </a:prstGeom>
          <a:noFill/>
        </p:spPr>
        <p:txBody>
          <a:bodyPr wrap="square" lIns="0" tIns="0" rIns="0" bIns="0" anchor="ctr">
            <a:spAutoFit/>
          </a:bodyPr>
          <a:lstStyle/>
          <a:p>
            <a:pPr algn="l"/>
            <a:r>
              <a:rPr sz="1700" b="0">
                <a:solidFill>
                  <a:srgbClr val="5F6A78"/>
                </a:solidFill>
                <a:latin typeface="Segoe UI"/>
              </a:rPr>
              <a:t>A multi-agent system built and verified on Microsoft Foundry</a:t>
            </a:r>
          </a:p>
        </p:txBody>
      </p:sp>
      <p:sp>
        <p:nvSpPr>
          <p:cNvPr id="8" name="TextBox 7"/>
          <p:cNvSpPr txBox="1"/>
          <p:nvPr/>
        </p:nvSpPr>
        <p:spPr>
          <a:xfrm>
            <a:off x="502920" y="1728216"/>
            <a:ext cx="10789920" cy="356616"/>
          </a:xfrm>
          <a:prstGeom prst="rect">
            <a:avLst/>
          </a:prstGeom>
          <a:noFill/>
        </p:spPr>
        <p:txBody>
          <a:bodyPr wrap="square" lIns="0" tIns="0" rIns="0" bIns="0" anchor="ctr">
            <a:spAutoFit/>
          </a:bodyPr>
          <a:lstStyle/>
          <a:p>
            <a:pPr algn="l"/>
            <a:r>
              <a:rPr sz="1200" b="1">
                <a:solidFill>
                  <a:srgbClr val="1A6A8F"/>
                </a:solidFill>
                <a:latin typeface="Segoe UI"/>
              </a:rPr>
              <a:t>THE SOLUTION</a:t>
            </a:r>
          </a:p>
        </p:txBody>
      </p:sp>
      <p:sp>
        <p:nvSpPr>
          <p:cNvPr id="9" name="TextBox 8"/>
          <p:cNvSpPr txBox="1"/>
          <p:nvPr/>
        </p:nvSpPr>
        <p:spPr>
          <a:xfrm>
            <a:off x="502920" y="2066543"/>
            <a:ext cx="10972800" cy="960120"/>
          </a:xfrm>
          <a:prstGeom prst="rect">
            <a:avLst/>
          </a:prstGeom>
          <a:noFill/>
        </p:spPr>
        <p:txBody>
          <a:bodyPr wrap="square" lIns="0" tIns="0" rIns="0" bIns="0" anchor="ctr">
            <a:spAutoFit/>
          </a:bodyPr>
          <a:lstStyle/>
          <a:p>
            <a:pPr algn="l"/>
            <a:r>
              <a:rPr sz="2100" b="0">
                <a:solidFill>
                  <a:srgbClr val="1E252D"/>
                </a:solidFill>
                <a:latin typeface="Segoe UI"/>
              </a:rPr>
              <a:t>Nine specialist agents investigate a high-bill dispute, check the evidence and policy, and control what can be released to the customer.</a:t>
            </a:r>
          </a:p>
        </p:txBody>
      </p:sp>
      <p:sp>
        <p:nvSpPr>
          <p:cNvPr id="10" name="Rectangle 9"/>
          <p:cNvSpPr/>
          <p:nvPr/>
        </p:nvSpPr>
        <p:spPr>
          <a:xfrm>
            <a:off x="502920" y="3273552"/>
            <a:ext cx="34930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273552"/>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3401568"/>
            <a:ext cx="3145536" cy="438912"/>
          </a:xfrm>
          <a:prstGeom prst="rect">
            <a:avLst/>
          </a:prstGeom>
          <a:noFill/>
        </p:spPr>
        <p:txBody>
          <a:bodyPr wrap="square" lIns="0" tIns="0" rIns="0" bIns="0" anchor="ctr">
            <a:spAutoFit/>
          </a:bodyPr>
          <a:lstStyle/>
          <a:p>
            <a:pPr algn="l"/>
            <a:r>
              <a:rPr sz="2900" b="1">
                <a:solidFill>
                  <a:srgbClr val="1A6A8F"/>
                </a:solidFill>
                <a:latin typeface="Segoe UI"/>
              </a:rPr>
              <a:t>9</a:t>
            </a:r>
          </a:p>
        </p:txBody>
      </p:sp>
      <p:sp>
        <p:nvSpPr>
          <p:cNvPr id="13" name="TextBox 12"/>
          <p:cNvSpPr txBox="1"/>
          <p:nvPr/>
        </p:nvSpPr>
        <p:spPr>
          <a:xfrm>
            <a:off x="704088" y="3895344"/>
            <a:ext cx="3182112" cy="237744"/>
          </a:xfrm>
          <a:prstGeom prst="rect">
            <a:avLst/>
          </a:prstGeom>
          <a:noFill/>
        </p:spPr>
        <p:txBody>
          <a:bodyPr wrap="square" lIns="0" tIns="0" rIns="0" bIns="0" anchor="ctr">
            <a:spAutoFit/>
          </a:bodyPr>
          <a:lstStyle/>
          <a:p>
            <a:pPr algn="l"/>
            <a:r>
              <a:rPr sz="1300" b="1">
                <a:solidFill>
                  <a:srgbClr val="1E252D"/>
                </a:solidFill>
                <a:latin typeface="Segoe UI"/>
              </a:rPr>
              <a:t>Specialist agents</a:t>
            </a:r>
          </a:p>
        </p:txBody>
      </p:sp>
      <p:sp>
        <p:nvSpPr>
          <p:cNvPr id="14" name="Rectangle 13"/>
          <p:cNvSpPr/>
          <p:nvPr/>
        </p:nvSpPr>
        <p:spPr>
          <a:xfrm>
            <a:off x="4178808" y="3273552"/>
            <a:ext cx="34930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78808" y="3273552"/>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79976" y="3401568"/>
            <a:ext cx="3145536" cy="438912"/>
          </a:xfrm>
          <a:prstGeom prst="rect">
            <a:avLst/>
          </a:prstGeom>
          <a:noFill/>
        </p:spPr>
        <p:txBody>
          <a:bodyPr wrap="square" lIns="0" tIns="0" rIns="0" bIns="0" anchor="ctr">
            <a:spAutoFit/>
          </a:bodyPr>
          <a:lstStyle/>
          <a:p>
            <a:pPr algn="l"/>
            <a:r>
              <a:rPr sz="2900" b="1">
                <a:solidFill>
                  <a:srgbClr val="1A6A8F"/>
                </a:solidFill>
                <a:latin typeface="Segoe UI"/>
              </a:rPr>
              <a:t>14 / 14</a:t>
            </a:r>
          </a:p>
        </p:txBody>
      </p:sp>
      <p:sp>
        <p:nvSpPr>
          <p:cNvPr id="17" name="TextBox 16"/>
          <p:cNvSpPr txBox="1"/>
          <p:nvPr/>
        </p:nvSpPr>
        <p:spPr>
          <a:xfrm>
            <a:off x="4379976" y="3895344"/>
            <a:ext cx="3182112" cy="237744"/>
          </a:xfrm>
          <a:prstGeom prst="rect">
            <a:avLst/>
          </a:prstGeom>
          <a:noFill/>
        </p:spPr>
        <p:txBody>
          <a:bodyPr wrap="square" lIns="0" tIns="0" rIns="0" bIns="0" anchor="ctr">
            <a:spAutoFit/>
          </a:bodyPr>
          <a:lstStyle/>
          <a:p>
            <a:pPr algn="l"/>
            <a:r>
              <a:rPr sz="1300" b="1">
                <a:solidFill>
                  <a:srgbClr val="1E252D"/>
                </a:solidFill>
                <a:latin typeface="Segoe UI"/>
              </a:rPr>
              <a:t>Hosted acceptance criteria</a:t>
            </a:r>
          </a:p>
        </p:txBody>
      </p:sp>
      <p:sp>
        <p:nvSpPr>
          <p:cNvPr id="18" name="Rectangle 17"/>
          <p:cNvSpPr/>
          <p:nvPr/>
        </p:nvSpPr>
        <p:spPr>
          <a:xfrm>
            <a:off x="7854696" y="3273552"/>
            <a:ext cx="3822191"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54696" y="3273552"/>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55864" y="3401568"/>
            <a:ext cx="3474720" cy="438912"/>
          </a:xfrm>
          <a:prstGeom prst="rect">
            <a:avLst/>
          </a:prstGeom>
          <a:noFill/>
        </p:spPr>
        <p:txBody>
          <a:bodyPr wrap="square" lIns="0" tIns="0" rIns="0" bIns="0" anchor="ctr">
            <a:spAutoFit/>
          </a:bodyPr>
          <a:lstStyle/>
          <a:p>
            <a:pPr algn="l"/>
            <a:r>
              <a:rPr sz="2900" b="1">
                <a:solidFill>
                  <a:srgbClr val="1A6A8F"/>
                </a:solidFill>
                <a:latin typeface="Segoe UI"/>
              </a:rPr>
              <a:t>1,174</a:t>
            </a:r>
          </a:p>
        </p:txBody>
      </p:sp>
      <p:sp>
        <p:nvSpPr>
          <p:cNvPr id="21" name="TextBox 20"/>
          <p:cNvSpPr txBox="1"/>
          <p:nvPr/>
        </p:nvSpPr>
        <p:spPr>
          <a:xfrm>
            <a:off x="8055864" y="3895344"/>
            <a:ext cx="3511296" cy="237744"/>
          </a:xfrm>
          <a:prstGeom prst="rect">
            <a:avLst/>
          </a:prstGeom>
          <a:noFill/>
        </p:spPr>
        <p:txBody>
          <a:bodyPr wrap="square" lIns="0" tIns="0" rIns="0" bIns="0" anchor="ctr">
            <a:spAutoFit/>
          </a:bodyPr>
          <a:lstStyle/>
          <a:p>
            <a:pPr algn="l"/>
            <a:r>
              <a:rPr sz="1300" b="1">
                <a:solidFill>
                  <a:srgbClr val="1E252D"/>
                </a:solidFill>
                <a:latin typeface="Segoe UI"/>
              </a:rPr>
              <a:t>Local checks passed</a:t>
            </a:r>
          </a:p>
        </p:txBody>
      </p:sp>
      <p:sp>
        <p:nvSpPr>
          <p:cNvPr id="22" name="Rectangle 21"/>
          <p:cNvSpPr/>
          <p:nvPr/>
        </p:nvSpPr>
        <p:spPr>
          <a:xfrm>
            <a:off x="502920" y="4654296"/>
            <a:ext cx="11155680" cy="1207008"/>
          </a:xfrm>
          <a:prstGeom prst="rect">
            <a:avLst/>
          </a:prstGeom>
          <a:solidFill>
            <a:srgbClr val="EB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 y="4800600"/>
            <a:ext cx="9966960" cy="329184"/>
          </a:xfrm>
          <a:prstGeom prst="rect">
            <a:avLst/>
          </a:prstGeom>
          <a:noFill/>
        </p:spPr>
        <p:txBody>
          <a:bodyPr wrap="square" lIns="0" tIns="0" rIns="0" bIns="0" anchor="ctr">
            <a:spAutoFit/>
          </a:bodyPr>
          <a:lstStyle/>
          <a:p>
            <a:pPr algn="l"/>
            <a:r>
              <a:rPr sz="1700" b="1">
                <a:solidFill>
                  <a:srgbClr val="1A6A8F"/>
                </a:solidFill>
                <a:latin typeface="Segoe UI"/>
              </a:rPr>
              <a:t>105 additional Power Fx cases passed on Microsoft's engine</a:t>
            </a:r>
          </a:p>
        </p:txBody>
      </p:sp>
      <p:sp>
        <p:nvSpPr>
          <p:cNvPr id="24" name="TextBox 23"/>
          <p:cNvSpPr txBox="1"/>
          <p:nvPr/>
        </p:nvSpPr>
        <p:spPr>
          <a:xfrm>
            <a:off x="768096" y="5239512"/>
            <a:ext cx="10012680" cy="384048"/>
          </a:xfrm>
          <a:prstGeom prst="rect">
            <a:avLst/>
          </a:prstGeom>
          <a:noFill/>
        </p:spPr>
        <p:txBody>
          <a:bodyPr wrap="square" lIns="0" tIns="0" rIns="0" bIns="0" anchor="ctr">
            <a:spAutoFit/>
          </a:bodyPr>
          <a:lstStyle/>
          <a:p>
            <a:pPr algn="l"/>
            <a:r>
              <a:rPr sz="1200" b="0">
                <a:solidFill>
                  <a:srgbClr val="5F6A78"/>
                </a:solidFill>
                <a:latin typeface="Segoe UI"/>
              </a:rPr>
              <a:t>Three genuine hosted runs. Workflow v10 passed its pre-registered case acceptance. All customer and utility records used in testing are synthetic.</a:t>
            </a:r>
          </a:p>
        </p:txBody>
      </p:sp>
      <p:sp>
        <p:nvSpPr>
          <p:cNvPr id="25" name="TextBox 24"/>
          <p:cNvSpPr txBox="1"/>
          <p:nvPr/>
        </p:nvSpPr>
        <p:spPr>
          <a:xfrm>
            <a:off x="502920" y="5989320"/>
            <a:ext cx="10972800" cy="283464"/>
          </a:xfrm>
          <a:prstGeom prst="rect">
            <a:avLst/>
          </a:prstGeom>
          <a:noFill/>
        </p:spPr>
        <p:txBody>
          <a:bodyPr wrap="square" lIns="0" tIns="0" rIns="0" bIns="0" anchor="ctr">
            <a:spAutoFit/>
          </a:bodyPr>
          <a:lstStyle/>
          <a:p>
            <a:pPr algn="l"/>
            <a:r>
              <a:rPr sz="1300" b="1">
                <a:solidFill>
                  <a:srgbClr val="1E252D"/>
                </a:solidFill>
                <a:latin typeface="Segoe UI"/>
              </a:rPr>
              <a:t>Satyam Pandey   |   Microsoft Agent-a-thon, Level 3 Architect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GRIDRESOLVE AI</a:t>
            </a:r>
          </a:p>
          <a:p>
            <a:pPr>
              <a:spcAft>
                <a:spcPts val="200"/>
              </a:spcAft>
            </a:pPr>
            <a:r>
              <a:rPr sz="2800" b="1" i="0">
                <a:solidFill>
                  <a:srgbClr val="161A20"/>
                </a:solidFill>
                <a:latin typeface="Segoe UI"/>
              </a:rPr>
              <a:t>A high bill is not one question. It is five.</a:t>
            </a:r>
          </a:p>
          <a:p>
            <a:pPr>
              <a:spcAft>
                <a:spcPts val="0"/>
              </a:spcAft>
            </a:pPr>
            <a:r>
              <a:rPr sz="1300" b="0" i="0">
                <a:solidFill>
                  <a:srgbClr val="5F6A78"/>
                </a:solidFill>
                <a:latin typeface="Segoe UI"/>
              </a:rPr>
              <a:t>Evidence-first multi-agent utility billing resolution on Microsoft Foundry</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3657600" cy="3291840"/>
          </a:xfrm>
          <a:prstGeom prst="rect">
            <a:avLst/>
          </a:prstGeom>
          <a:noFill/>
        </p:spPr>
        <p:txBody>
          <a:bodyPr wrap="square" lIns="0" tIns="0" rIns="0" bIns="0">
            <a:spAutoFit/>
          </a:bodyPr>
          <a:lstStyle/>
          <a:p>
            <a:pPr>
              <a:spcAft>
                <a:spcPts val="600"/>
              </a:spcAft>
            </a:pPr>
            <a:r>
              <a:rPr sz="1100" b="1" i="0">
                <a:solidFill>
                  <a:srgbClr val="1A6A8F"/>
                </a:solidFill>
                <a:latin typeface="Segoe UI"/>
              </a:rPr>
              <a:t>THE PROBLEM</a:t>
            </a:r>
          </a:p>
          <a:p>
            <a:pPr>
              <a:spcAft>
                <a:spcPts val="700"/>
              </a:spcAft>
            </a:pPr>
            <a:r>
              <a:rPr sz="1250" b="0" i="0">
                <a:solidFill>
                  <a:srgbClr val="161A20"/>
                </a:solidFill>
                <a:latin typeface="Segoe UI"/>
              </a:rPr>
              <a:t>A customer's bill jumps from $152.80 to $203.40. They are certain the meter is broken, and want it confirmed and the charge reversed.</a:t>
            </a:r>
          </a:p>
          <a:p>
            <a:pPr>
              <a:spcAft>
                <a:spcPts val="700"/>
              </a:spcAft>
            </a:pPr>
            <a:r>
              <a:rPr sz="1250" b="0" i="0">
                <a:solidFill>
                  <a:srgbClr val="161A20"/>
                </a:solidFill>
                <a:latin typeface="Segoe UI"/>
              </a:rPr>
              <a:t>Answering needs billing records, consumption, policy, customer wording and approval authority, reconciled at once.</a:t>
            </a:r>
          </a:p>
          <a:p>
            <a:pPr>
              <a:spcAft>
                <a:spcPts val="700"/>
              </a:spcAft>
            </a:pPr>
            <a:r>
              <a:rPr sz="1250" b="0" i="0">
                <a:solidFill>
                  <a:srgbClr val="161A20"/>
                </a:solidFill>
                <a:latin typeface="Segoe UI"/>
              </a:rPr>
              <a:t>A single assistant answers all five, then approves its own answer. Under pressure from a confident customer, agreement is the easiest output.</a:t>
            </a:r>
          </a:p>
        </p:txBody>
      </p:sp>
      <p:sp>
        <p:nvSpPr>
          <p:cNvPr id="6" name="TextBox 5"/>
          <p:cNvSpPr txBox="1"/>
          <p:nvPr/>
        </p:nvSpPr>
        <p:spPr>
          <a:xfrm>
            <a:off x="4434840" y="1737360"/>
            <a:ext cx="3657600" cy="3291840"/>
          </a:xfrm>
          <a:prstGeom prst="rect">
            <a:avLst/>
          </a:prstGeom>
          <a:noFill/>
        </p:spPr>
        <p:txBody>
          <a:bodyPr wrap="square" lIns="0" tIns="0" rIns="0" bIns="0">
            <a:spAutoFit/>
          </a:bodyPr>
          <a:lstStyle/>
          <a:p>
            <a:pPr>
              <a:spcAft>
                <a:spcPts val="600"/>
              </a:spcAft>
            </a:pPr>
            <a:r>
              <a:rPr sz="1100" b="1" i="0">
                <a:solidFill>
                  <a:srgbClr val="1A6A8F"/>
                </a:solidFill>
                <a:latin typeface="Segoe UI"/>
              </a:rPr>
              <a:t>PURPOSE AND AUDIENCE</a:t>
            </a:r>
          </a:p>
          <a:p>
            <a:pPr>
              <a:spcAft>
                <a:spcPts val="100"/>
              </a:spcAft>
            </a:pPr>
            <a:r>
              <a:rPr sz="1250" b="1" i="0">
                <a:solidFill>
                  <a:srgbClr val="161A20"/>
                </a:solidFill>
                <a:latin typeface="Segoe UI"/>
              </a:rPr>
              <a:t>Who it is for</a:t>
            </a:r>
          </a:p>
          <a:p>
            <a:pPr>
              <a:spcAft>
                <a:spcPts val="700"/>
              </a:spcAft>
            </a:pPr>
            <a:r>
              <a:rPr sz="1150" b="0" i="0">
                <a:solidFill>
                  <a:srgbClr val="5F6A78"/>
                </a:solidFill>
                <a:latin typeface="Segoe UI"/>
              </a:rPr>
              <a:t>Utility billing operations: the agents who answer high-bill disputes, and the supervisors who must approve any money.</a:t>
            </a:r>
          </a:p>
          <a:p>
            <a:pPr>
              <a:spcAft>
                <a:spcPts val="100"/>
              </a:spcAft>
            </a:pPr>
            <a:r>
              <a:rPr sz="1250" b="1" i="0">
                <a:solidFill>
                  <a:srgbClr val="161A20"/>
                </a:solidFill>
                <a:latin typeface="Segoe UI"/>
              </a:rPr>
              <a:t>What it does</a:t>
            </a:r>
          </a:p>
          <a:p>
            <a:pPr>
              <a:spcAft>
                <a:spcPts val="700"/>
              </a:spcAft>
            </a:pPr>
            <a:r>
              <a:rPr sz="1150" b="0" i="0">
                <a:solidFill>
                  <a:srgbClr val="5F6A78"/>
                </a:solidFill>
                <a:latin typeface="Segoe UI"/>
              </a:rPr>
              <a:t>Investigates the dispute from the records, explains only what the evidence supports, and hands open questions to a person with a decision card.</a:t>
            </a:r>
          </a:p>
          <a:p>
            <a:pPr>
              <a:spcAft>
                <a:spcPts val="100"/>
              </a:spcAft>
            </a:pPr>
            <a:r>
              <a:rPr sz="1250" b="1" i="0">
                <a:solidFill>
                  <a:srgbClr val="161A20"/>
                </a:solidFill>
                <a:latin typeface="Segoe UI"/>
              </a:rPr>
              <a:t>What it will not do</a:t>
            </a:r>
          </a:p>
          <a:p>
            <a:pPr>
              <a:spcAft>
                <a:spcPts val="700"/>
              </a:spcAft>
            </a:pPr>
            <a:r>
              <a:rPr sz="1150" b="0" i="0">
                <a:solidFill>
                  <a:srgbClr val="5F6A78"/>
                </a:solidFill>
                <a:latin typeface="Segoe UI"/>
              </a:rPr>
              <a:t>Confirm a meter fault without evidence, promise a credit, or let the agent that wrote an answer approve it.</a:t>
            </a:r>
          </a:p>
        </p:txBody>
      </p:sp>
      <p:sp>
        <p:nvSpPr>
          <p:cNvPr id="7" name="TextBox 6"/>
          <p:cNvSpPr txBox="1"/>
          <p:nvPr/>
        </p:nvSpPr>
        <p:spPr>
          <a:xfrm>
            <a:off x="8366760" y="1737360"/>
            <a:ext cx="3291840" cy="3291840"/>
          </a:xfrm>
          <a:prstGeom prst="rect">
            <a:avLst/>
          </a:prstGeom>
          <a:noFill/>
        </p:spPr>
        <p:txBody>
          <a:bodyPr wrap="square" lIns="0" tIns="0" rIns="0" bIns="0">
            <a:spAutoFit/>
          </a:bodyPr>
          <a:lstStyle/>
          <a:p>
            <a:pPr>
              <a:spcAft>
                <a:spcPts val="600"/>
              </a:spcAft>
            </a:pPr>
            <a:r>
              <a:rPr sz="1100" b="1" i="0">
                <a:solidFill>
                  <a:srgbClr val="1A6A8F"/>
                </a:solidFill>
                <a:latin typeface="Segoe UI"/>
              </a:rPr>
              <a:t>BUSINESS VALUE</a:t>
            </a:r>
          </a:p>
          <a:p>
            <a:pPr>
              <a:spcAft>
                <a:spcPts val="100"/>
              </a:spcAft>
            </a:pPr>
            <a:r>
              <a:rPr sz="1200" b="1" i="0">
                <a:solidFill>
                  <a:srgbClr val="161A20"/>
                </a:solidFill>
                <a:latin typeface="Segoe UI"/>
              </a:rPr>
              <a:t>Avoided wrong adjustments</a:t>
            </a:r>
          </a:p>
          <a:p>
            <a:pPr>
              <a:spcAft>
                <a:spcPts val="700"/>
              </a:spcAft>
            </a:pPr>
            <a:r>
              <a:rPr sz="1100" b="0" i="0">
                <a:solidFill>
                  <a:srgbClr val="5F6A78"/>
                </a:solidFill>
                <a:latin typeface="Segoe UI"/>
              </a:rPr>
              <a:t>An unsupported meter-fault conclusion is money out plus a technician sent for nothing.</a:t>
            </a:r>
          </a:p>
          <a:p>
            <a:pPr>
              <a:spcAft>
                <a:spcPts val="100"/>
              </a:spcAft>
            </a:pPr>
            <a:r>
              <a:rPr sz="1200" b="1" i="0">
                <a:solidFill>
                  <a:srgbClr val="161A20"/>
                </a:solidFill>
                <a:latin typeface="Segoe UI"/>
              </a:rPr>
              <a:t>Regulatory defensibility</a:t>
            </a:r>
          </a:p>
          <a:p>
            <a:pPr>
              <a:spcAft>
                <a:spcPts val="700"/>
              </a:spcAft>
            </a:pPr>
            <a:r>
              <a:rPr sz="1100" b="0" i="0">
                <a:solidFill>
                  <a:srgbClr val="5F6A78"/>
                </a:solidFill>
                <a:latin typeface="Segoe UI"/>
              </a:rPr>
              <a:t>Every released statement traces to evidence and policy IDs. Every path ends in an audit record.</a:t>
            </a:r>
          </a:p>
          <a:p>
            <a:pPr>
              <a:spcAft>
                <a:spcPts val="100"/>
              </a:spcAft>
            </a:pPr>
            <a:r>
              <a:rPr sz="1200" b="1" i="0">
                <a:solidFill>
                  <a:srgbClr val="161A20"/>
                </a:solidFill>
                <a:latin typeface="Segoe UI"/>
              </a:rPr>
              <a:t>Human attention where it counts</a:t>
            </a:r>
          </a:p>
          <a:p>
            <a:pPr>
              <a:spcAft>
                <a:spcPts val="700"/>
              </a:spcAft>
            </a:pPr>
            <a:r>
              <a:rPr sz="1100" b="0" i="0">
                <a:solidFill>
                  <a:srgbClr val="5F6A78"/>
                </a:solidFill>
                <a:latin typeface="Segoe UI"/>
              </a:rPr>
              <a:t>Open cases arrive triaged, with the missing evidence named.</a:t>
            </a:r>
          </a:p>
        </p:txBody>
      </p:sp>
      <p:sp>
        <p:nvSpPr>
          <p:cNvPr id="8" name="Rectangle 7"/>
          <p:cNvSpPr/>
          <p:nvPr/>
        </p:nvSpPr>
        <p:spPr>
          <a:xfrm>
            <a:off x="502920" y="5120640"/>
            <a:ext cx="11155680" cy="118872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5248656"/>
            <a:ext cx="10698480" cy="1005840"/>
          </a:xfrm>
          <a:prstGeom prst="rect">
            <a:avLst/>
          </a:prstGeom>
          <a:noFill/>
        </p:spPr>
        <p:txBody>
          <a:bodyPr wrap="square" lIns="0" tIns="0" rIns="0" bIns="0">
            <a:spAutoFit/>
          </a:bodyPr>
          <a:lstStyle/>
          <a:p>
            <a:pPr>
              <a:spcAft>
                <a:spcPts val="400"/>
              </a:spcAft>
            </a:pPr>
            <a:r>
              <a:rPr sz="1000" b="1" i="0">
                <a:solidFill>
                  <a:srgbClr val="1A6A8F"/>
                </a:solidFill>
                <a:latin typeface="Segoe UI"/>
              </a:rPr>
              <a:t>WHERE IT STANDS</a:t>
            </a:r>
          </a:p>
          <a:p>
            <a:pPr>
              <a:spcAft>
                <a:spcPts val="0"/>
              </a:spcAft>
            </a:pPr>
            <a:r>
              <a:rPr sz="1200" b="0" i="0">
                <a:solidFill>
                  <a:srgbClr val="161A20"/>
                </a:solidFill>
                <a:latin typeface="Segoe UI"/>
              </a:rPr>
              <a:t>I ran it for real on Microsoft Foundry three times. The final run, on workflow v10, passed 14 of 14 acceptance criteria that I wrote down before it ran. The first two runs exposed real defects, and they are in the repository too. Since then I have built the production path around it: typed integration ports, a migration proof on Microsoft Agent Framework, and 1,174 local checks.</a:t>
            </a:r>
          </a:p>
        </p:txBody>
      </p:sp>
      <p:sp>
        <p:nvSpPr>
          <p:cNvPr id="10" name="TextBox 9"/>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ARCHITECTURE</a:t>
            </a:r>
          </a:p>
          <a:p>
            <a:pPr>
              <a:spcAft>
                <a:spcPts val="200"/>
              </a:spcAft>
            </a:pPr>
            <a:r>
              <a:rPr sz="2800" b="1" i="0">
                <a:solidFill>
                  <a:srgbClr val="161A20"/>
                </a:solidFill>
                <a:latin typeface="Segoe UI"/>
              </a:rPr>
              <a:t>Nine specialists, one governed workflow</a:t>
            </a:r>
          </a:p>
          <a:p>
            <a:pPr>
              <a:spcAft>
                <a:spcPts val="0"/>
              </a:spcAft>
            </a:pPr>
            <a:r>
              <a:rPr sz="1300" b="0" i="0">
                <a:solidFill>
                  <a:srgbClr val="5F6A78"/>
                </a:solidFill>
                <a:latin typeface="Segoe UI"/>
              </a:rPr>
              <a:t>The agent that writes the answer is never the agent that clears it for release</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3611880" cy="3520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47088"/>
            <a:ext cx="3246120" cy="3291840"/>
          </a:xfrm>
          <a:prstGeom prst="rect">
            <a:avLst/>
          </a:prstGeom>
          <a:noFill/>
        </p:spPr>
        <p:txBody>
          <a:bodyPr wrap="square" lIns="0" tIns="0" rIns="0" bIns="0">
            <a:spAutoFit/>
          </a:bodyPr>
          <a:lstStyle/>
          <a:p>
            <a:pPr>
              <a:spcAft>
                <a:spcPts val="700"/>
              </a:spcAft>
            </a:pPr>
            <a:r>
              <a:rPr sz="1100" b="1" i="0">
                <a:solidFill>
                  <a:srgbClr val="1A6A8F"/>
                </a:solidFill>
                <a:latin typeface="Segoe UI"/>
              </a:rPr>
              <a:t>FOUR INVESTIGATE</a:t>
            </a:r>
          </a:p>
          <a:p>
            <a:pPr>
              <a:spcAft>
                <a:spcPts val="100"/>
              </a:spcAft>
            </a:pPr>
            <a:r>
              <a:rPr sz="1250" b="1" i="0">
                <a:solidFill>
                  <a:srgbClr val="161A20"/>
                </a:solidFill>
                <a:latin typeface="Segoe UI"/>
              </a:rPr>
              <a:t>CaseTriageAgent</a:t>
            </a:r>
          </a:p>
          <a:p>
            <a:pPr>
              <a:spcAft>
                <a:spcPts val="700"/>
              </a:spcAft>
            </a:pPr>
            <a:r>
              <a:rPr sz="1100" b="0" i="0">
                <a:solidFill>
                  <a:srgbClr val="5F6A78"/>
                </a:solidFill>
                <a:latin typeface="Segoe UI"/>
              </a:rPr>
              <a:t>classifies the complaint and the allegations</a:t>
            </a:r>
          </a:p>
          <a:p>
            <a:pPr>
              <a:spcAft>
                <a:spcPts val="100"/>
              </a:spcAft>
            </a:pPr>
            <a:r>
              <a:rPr sz="1250" b="1" i="0">
                <a:solidFill>
                  <a:srgbClr val="161A20"/>
                </a:solidFill>
                <a:latin typeface="Segoe UI"/>
              </a:rPr>
              <a:t>AccountEvidenceAgent</a:t>
            </a:r>
          </a:p>
          <a:p>
            <a:pPr>
              <a:spcAft>
                <a:spcPts val="700"/>
              </a:spcAft>
            </a:pPr>
            <a:r>
              <a:rPr sz="1100" b="0" i="0">
                <a:solidFill>
                  <a:srgbClr val="5F6A78"/>
                </a:solidFill>
                <a:latin typeface="Segoe UI"/>
              </a:rPr>
              <a:t>builds the evidence ledger from the records</a:t>
            </a:r>
          </a:p>
          <a:p>
            <a:pPr>
              <a:spcAft>
                <a:spcPts val="100"/>
              </a:spcAft>
            </a:pPr>
            <a:r>
              <a:rPr sz="1250" b="1" i="0">
                <a:solidFill>
                  <a:srgbClr val="161A20"/>
                </a:solidFill>
                <a:latin typeface="Segoe UI"/>
              </a:rPr>
              <a:t>UsageAnomalyAgent</a:t>
            </a:r>
          </a:p>
          <a:p>
            <a:pPr>
              <a:spcAft>
                <a:spcPts val="700"/>
              </a:spcAft>
            </a:pPr>
            <a:r>
              <a:rPr sz="1100" b="0" i="0">
                <a:solidFill>
                  <a:srgbClr val="5F6A78"/>
                </a:solidFill>
                <a:latin typeface="Segoe UI"/>
              </a:rPr>
              <a:t>separates supported from unsupported explanations</a:t>
            </a:r>
          </a:p>
          <a:p>
            <a:pPr>
              <a:spcAft>
                <a:spcPts val="100"/>
              </a:spcAft>
            </a:pPr>
            <a:r>
              <a:rPr sz="1250" b="1" i="0">
                <a:solidFill>
                  <a:srgbClr val="161A20"/>
                </a:solidFill>
                <a:latin typeface="Segoe UI"/>
              </a:rPr>
              <a:t>PolicyKnowledgeAgent</a:t>
            </a:r>
          </a:p>
          <a:p>
            <a:pPr>
              <a:spcAft>
                <a:spcPts val="700"/>
              </a:spcAft>
            </a:pPr>
            <a:r>
              <a:rPr sz="1100" b="0" i="0">
                <a:solidFill>
                  <a:srgbClr val="5F6A78"/>
                </a:solidFill>
                <a:latin typeface="Segoe UI"/>
              </a:rPr>
              <a:t>maps the governed policies that apply</a:t>
            </a:r>
          </a:p>
        </p:txBody>
      </p:sp>
      <p:sp>
        <p:nvSpPr>
          <p:cNvPr id="7" name="Rectangle 6"/>
          <p:cNvSpPr/>
          <p:nvPr/>
        </p:nvSpPr>
        <p:spPr>
          <a:xfrm>
            <a:off x="4270248" y="1737360"/>
            <a:ext cx="3611880" cy="3520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3128" y="1847088"/>
            <a:ext cx="3246120" cy="3291840"/>
          </a:xfrm>
          <a:prstGeom prst="rect">
            <a:avLst/>
          </a:prstGeom>
          <a:noFill/>
        </p:spPr>
        <p:txBody>
          <a:bodyPr wrap="square" lIns="0" tIns="0" rIns="0" bIns="0">
            <a:spAutoFit/>
          </a:bodyPr>
          <a:lstStyle/>
          <a:p>
            <a:pPr>
              <a:spcAft>
                <a:spcPts val="700"/>
              </a:spcAft>
            </a:pPr>
            <a:r>
              <a:rPr sz="1100" b="1" i="0">
                <a:solidFill>
                  <a:srgbClr val="1A6A8F"/>
                </a:solidFill>
                <a:latin typeface="Segoe UI"/>
              </a:rPr>
              <a:t>TWO PRODUCE</a:t>
            </a:r>
          </a:p>
          <a:p>
            <a:pPr>
              <a:spcAft>
                <a:spcPts val="100"/>
              </a:spcAft>
            </a:pPr>
            <a:r>
              <a:rPr sz="1250" b="1" i="0">
                <a:solidFill>
                  <a:srgbClr val="161A20"/>
                </a:solidFill>
                <a:latin typeface="Segoe UI"/>
              </a:rPr>
              <a:t>ResolutionPlannerAgent</a:t>
            </a:r>
          </a:p>
          <a:p>
            <a:pPr>
              <a:spcAft>
                <a:spcPts val="700"/>
              </a:spcAft>
            </a:pPr>
            <a:r>
              <a:rPr sz="1100" b="0" i="0">
                <a:solidFill>
                  <a:srgbClr val="5F6A78"/>
                </a:solidFill>
                <a:latin typeface="Segoe UI"/>
              </a:rPr>
              <a:t>plans against a claim ledger, and says whether a person is still needed</a:t>
            </a:r>
          </a:p>
          <a:p>
            <a:pPr>
              <a:spcAft>
                <a:spcPts val="100"/>
              </a:spcAft>
            </a:pPr>
            <a:r>
              <a:rPr sz="1250" b="1" i="0">
                <a:solidFill>
                  <a:srgbClr val="161A20"/>
                </a:solidFill>
                <a:latin typeface="Segoe UI"/>
              </a:rPr>
              <a:t>CustomerCommunicationAgent</a:t>
            </a:r>
          </a:p>
          <a:p>
            <a:pPr>
              <a:spcAft>
                <a:spcPts val="700"/>
              </a:spcAft>
            </a:pPr>
            <a:r>
              <a:rPr sz="1100" b="0" i="0">
                <a:solidFill>
                  <a:srgbClr val="5F6A78"/>
                </a:solidFill>
                <a:latin typeface="Segoe UI"/>
              </a:rPr>
              <a:t>drafts the six-part plain-language message</a:t>
            </a:r>
          </a:p>
        </p:txBody>
      </p:sp>
      <p:sp>
        <p:nvSpPr>
          <p:cNvPr id="9" name="Rectangle 8"/>
          <p:cNvSpPr/>
          <p:nvPr/>
        </p:nvSpPr>
        <p:spPr>
          <a:xfrm>
            <a:off x="8037575" y="1737360"/>
            <a:ext cx="3611880" cy="3520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0455" y="1847088"/>
            <a:ext cx="3246120" cy="3291840"/>
          </a:xfrm>
          <a:prstGeom prst="rect">
            <a:avLst/>
          </a:prstGeom>
          <a:noFill/>
        </p:spPr>
        <p:txBody>
          <a:bodyPr wrap="square" lIns="0" tIns="0" rIns="0" bIns="0">
            <a:spAutoFit/>
          </a:bodyPr>
          <a:lstStyle/>
          <a:p>
            <a:pPr>
              <a:spcAft>
                <a:spcPts val="700"/>
              </a:spcAft>
            </a:pPr>
            <a:r>
              <a:rPr sz="1100" b="1" i="0">
                <a:solidFill>
                  <a:srgbClr val="B0561E"/>
                </a:solidFill>
                <a:latin typeface="Segoe UI"/>
              </a:rPr>
              <a:t>THREE CONTROL</a:t>
            </a:r>
          </a:p>
          <a:p>
            <a:pPr>
              <a:spcAft>
                <a:spcPts val="100"/>
              </a:spcAft>
            </a:pPr>
            <a:r>
              <a:rPr sz="1250" b="1" i="0">
                <a:solidFill>
                  <a:srgbClr val="161A20"/>
                </a:solidFill>
                <a:latin typeface="Segoe UI"/>
              </a:rPr>
              <a:t>EvidenceComplianceAgent</a:t>
            </a:r>
          </a:p>
          <a:p>
            <a:pPr>
              <a:spcAft>
                <a:spcPts val="700"/>
              </a:spcAft>
            </a:pPr>
            <a:r>
              <a:rPr sz="1100" b="0" i="0">
                <a:solidFill>
                  <a:srgbClr val="5F6A78"/>
                </a:solidFill>
                <a:latin typeface="Segoe UI"/>
              </a:rPr>
              <a:t>independently approves or refuses the message, with reasons</a:t>
            </a:r>
          </a:p>
          <a:p>
            <a:pPr>
              <a:spcAft>
                <a:spcPts val="100"/>
              </a:spcAft>
            </a:pPr>
            <a:r>
              <a:rPr sz="1250" b="1" i="0">
                <a:solidFill>
                  <a:srgbClr val="161A20"/>
                </a:solidFill>
                <a:latin typeface="Segoe UI"/>
              </a:rPr>
              <a:t>EscalationCoordinatorAgent</a:t>
            </a:r>
          </a:p>
          <a:p>
            <a:pPr>
              <a:spcAft>
                <a:spcPts val="700"/>
              </a:spcAft>
            </a:pPr>
            <a:r>
              <a:rPr sz="1100" b="0" i="0">
                <a:solidFill>
                  <a:srgbClr val="5F6A78"/>
                </a:solidFill>
                <a:latin typeface="Segoe UI"/>
              </a:rPr>
              <a:t>prepares the human review package</a:t>
            </a:r>
          </a:p>
          <a:p>
            <a:pPr>
              <a:spcAft>
                <a:spcPts val="100"/>
              </a:spcAft>
            </a:pPr>
            <a:r>
              <a:rPr sz="1250" b="1" i="0">
                <a:solidFill>
                  <a:srgbClr val="161A20"/>
                </a:solidFill>
                <a:latin typeface="Segoe UI"/>
              </a:rPr>
              <a:t>CaseAuditAgent</a:t>
            </a:r>
          </a:p>
          <a:p>
            <a:pPr>
              <a:spcAft>
                <a:spcPts val="700"/>
              </a:spcAft>
            </a:pPr>
            <a:r>
              <a:rPr sz="1100" b="0" i="0">
                <a:solidFill>
                  <a:srgbClr val="5F6A78"/>
                </a:solidFill>
                <a:latin typeface="Segoe UI"/>
              </a:rPr>
              <a:t>writes the terminal record on every path</a:t>
            </a:r>
          </a:p>
        </p:txBody>
      </p:sp>
      <p:sp>
        <p:nvSpPr>
          <p:cNvPr id="11" name="TextBox 10"/>
          <p:cNvSpPr txBox="1"/>
          <p:nvPr/>
        </p:nvSpPr>
        <p:spPr>
          <a:xfrm>
            <a:off x="502920" y="5440680"/>
            <a:ext cx="11155680" cy="914400"/>
          </a:xfrm>
          <a:prstGeom prst="rect">
            <a:avLst/>
          </a:prstGeom>
          <a:noFill/>
        </p:spPr>
        <p:txBody>
          <a:bodyPr wrap="square" lIns="0" tIns="0" rIns="0" bIns="0">
            <a:spAutoFit/>
          </a:bodyPr>
          <a:lstStyle/>
          <a:p>
            <a:pPr>
              <a:spcAft>
                <a:spcPts val="600"/>
              </a:spcAft>
            </a:pPr>
            <a:r>
              <a:rPr sz="1100" b="1" i="0">
                <a:solidFill>
                  <a:srgbClr val="1A6A8F"/>
                </a:solidFill>
                <a:latin typeface="Segoe UI"/>
              </a:rPr>
              <a:t>HOW THEY COLLABORATE</a:t>
            </a:r>
          </a:p>
          <a:p>
            <a:pPr>
              <a:spcAft>
                <a:spcPts val="700"/>
              </a:spcAft>
            </a:pPr>
            <a:r>
              <a:rPr sz="1200" b="0" i="0">
                <a:solidFill>
                  <a:srgbClr val="161A20"/>
                </a:solidFill>
                <a:latin typeface="Segoe UI"/>
              </a:rPr>
              <a:t>Sequential, on one shared conversation. Each agent receives an explicit task naming its step. Seven agents run with output withheld, so nothing they write can reach the customer. Every material claim carries the evidence IDs and policy IDs that support it. All nine run gpt-5-mini with no external tools.</a:t>
            </a:r>
          </a:p>
        </p:txBody>
      </p:sp>
      <p:sp>
        <p:nvSpPr>
          <p:cNvPr id="12" name="TextBox 11"/>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MICROSOFT FOUNDRY</a:t>
            </a:r>
          </a:p>
          <a:p>
            <a:pPr>
              <a:spcAft>
                <a:spcPts val="200"/>
              </a:spcAft>
            </a:pPr>
            <a:r>
              <a:rPr sz="2800" b="1" i="0">
                <a:solidFill>
                  <a:srgbClr val="161A20"/>
                </a:solidFill>
                <a:latin typeface="Segoe UI"/>
              </a:rPr>
              <a:t>Built as Foundry agents and one Foundry workflow, version 10</a:t>
            </a:r>
          </a:p>
          <a:p>
            <a:pPr>
              <a:spcAft>
                <a:spcPts val="0"/>
              </a:spcAft>
            </a:pPr>
            <a:r>
              <a:rPr sz="1300" b="0" i="0">
                <a:solidFill>
                  <a:srgbClr val="5F6A78"/>
                </a:solidFill>
                <a:latin typeface="Segoe UI"/>
              </a:rPr>
              <a:t>Declarative workflow YAML, Power Fx conditions, strict JSON output schemas</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6035040" cy="44805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943600"/>
            <a:ext cx="5907024" cy="274320"/>
          </a:xfrm>
          <a:prstGeom prst="rect">
            <a:avLst/>
          </a:prstGeom>
          <a:noFill/>
        </p:spPr>
        <p:txBody>
          <a:bodyPr wrap="square" lIns="0" tIns="0" rIns="0" bIns="0">
            <a:spAutoFit/>
          </a:bodyPr>
          <a:lstStyle/>
          <a:p>
            <a:pPr>
              <a:spcAft>
                <a:spcPts val="0"/>
              </a:spcAft>
            </a:pPr>
            <a:r>
              <a:rPr sz="1000" b="0" i="0">
                <a:solidFill>
                  <a:srgbClr val="5F6A78"/>
                </a:solidFill>
                <a:latin typeface="Segoe UI"/>
              </a:rPr>
              <a:t>Original Foundry portal screenshots, cropped with annotations.</a:t>
            </a:r>
          </a:p>
        </p:txBody>
      </p:sp>
      <p:sp>
        <p:nvSpPr>
          <p:cNvPr id="8" name="TextBox 7"/>
          <p:cNvSpPr txBox="1"/>
          <p:nvPr/>
        </p:nvSpPr>
        <p:spPr>
          <a:xfrm>
            <a:off x="6720840" y="1737360"/>
            <a:ext cx="4937760" cy="4572000"/>
          </a:xfrm>
          <a:prstGeom prst="rect">
            <a:avLst/>
          </a:prstGeom>
          <a:noFill/>
        </p:spPr>
        <p:txBody>
          <a:bodyPr wrap="square" lIns="0" tIns="0" rIns="0" bIns="0">
            <a:spAutoFit/>
          </a:bodyPr>
          <a:lstStyle/>
          <a:p>
            <a:pPr>
              <a:spcAft>
                <a:spcPts val="600"/>
              </a:spcAft>
            </a:pPr>
            <a:r>
              <a:rPr sz="1100" b="1" i="0">
                <a:solidFill>
                  <a:srgbClr val="1A6A8F"/>
                </a:solidFill>
                <a:latin typeface="Segoe UI"/>
              </a:rPr>
              <a:t>HOW IT IS BUILT</a:t>
            </a:r>
          </a:p>
          <a:p>
            <a:pPr>
              <a:spcAft>
                <a:spcPts val="100"/>
              </a:spcAft>
            </a:pPr>
            <a:r>
              <a:rPr sz="1150" b="1" i="0">
                <a:solidFill>
                  <a:srgbClr val="161A20"/>
                </a:solidFill>
                <a:latin typeface="Segoe UI"/>
              </a:rPr>
              <a:t>Release gate, three terms</a:t>
            </a:r>
          </a:p>
          <a:p>
            <a:pPr>
              <a:spcAft>
                <a:spcPts val="700"/>
              </a:spcAft>
            </a:pPr>
            <a:r>
              <a:rPr sz="1050" b="0" i="0">
                <a:solidFill>
                  <a:srgbClr val="5F6A78"/>
                </a:solidFill>
                <a:latin typeface="Segoe UI"/>
              </a:rPr>
              <a:t>An exact approval token on the final line, six readable customer fields, and a complete investigation. Anything else withholds the message and goes to a human.</a:t>
            </a:r>
          </a:p>
          <a:p>
            <a:pPr>
              <a:spcAft>
                <a:spcPts val="100"/>
              </a:spcAft>
            </a:pPr>
            <a:r>
              <a:rPr sz="1150" b="1" i="0">
                <a:solidFill>
                  <a:srgbClr val="161A20"/>
                </a:solidFill>
                <a:latin typeface="Segoe UI"/>
              </a:rPr>
              <a:t>Strict output schemas</a:t>
            </a:r>
          </a:p>
          <a:p>
            <a:pPr>
              <a:spcAft>
                <a:spcPts val="700"/>
              </a:spcAft>
            </a:pPr>
            <a:r>
              <a:rPr sz="1050" b="0" i="0">
                <a:solidFill>
                  <a:srgbClr val="5F6A78"/>
                </a:solidFill>
                <a:latin typeface="Segoe UI"/>
              </a:rPr>
              <a:t>Evidence, policy, communication and audit agents must return a JSON object that matches a schema. Invalid outputs cannot satisfy the downstream release requirements.</a:t>
            </a:r>
          </a:p>
          <a:p>
            <a:pPr>
              <a:spcAft>
                <a:spcPts val="100"/>
              </a:spcAft>
            </a:pPr>
            <a:r>
              <a:rPr sz="1150" b="1" i="0">
                <a:solidFill>
                  <a:srgbClr val="161A20"/>
                </a:solidFill>
                <a:latin typeface="Segoe UI"/>
              </a:rPr>
              <a:t>Explicit invocation</a:t>
            </a:r>
          </a:p>
          <a:p>
            <a:pPr>
              <a:spcAft>
                <a:spcPts val="700"/>
              </a:spcAft>
            </a:pPr>
            <a:r>
              <a:rPr sz="1050" b="0" i="0">
                <a:solidFill>
                  <a:srgbClr val="5F6A78"/>
                </a:solidFill>
                <a:latin typeface="Segoe UI"/>
              </a:rPr>
              <a:t>Every agent node passes a literal task message. This is the fix for the stalls seen in the first two real runs.</a:t>
            </a:r>
          </a:p>
          <a:p>
            <a:pPr>
              <a:spcAft>
                <a:spcPts val="100"/>
              </a:spcAft>
            </a:pPr>
            <a:r>
              <a:rPr sz="1150" b="1" i="0">
                <a:solidFill>
                  <a:srgbClr val="161A20"/>
                </a:solidFill>
                <a:latin typeface="Segoe UI"/>
              </a:rPr>
              <a:t>Separate follow-up decision</a:t>
            </a:r>
          </a:p>
          <a:p>
            <a:pPr>
              <a:spcAft>
                <a:spcPts val="700"/>
              </a:spcAft>
            </a:pPr>
            <a:r>
              <a:rPr sz="1050" b="0" i="0">
                <a:solidFill>
                  <a:srgbClr val="5F6A78"/>
                </a:solidFill>
                <a:latin typeface="Segoe UI"/>
              </a:rPr>
              <a:t>Message approval and the need for a person are two gates, so a safe message never erases an open case.</a:t>
            </a:r>
          </a:p>
          <a:p>
            <a:pPr>
              <a:spcAft>
                <a:spcPts val="100"/>
              </a:spcAft>
            </a:pPr>
            <a:r>
              <a:rPr sz="1150" b="1" i="0">
                <a:solidFill>
                  <a:srgbClr val="161A20"/>
                </a:solidFill>
                <a:latin typeface="Segoe UI"/>
              </a:rPr>
              <a:t>Verified before it ran</a:t>
            </a:r>
          </a:p>
          <a:p>
            <a:pPr>
              <a:spcAft>
                <a:spcPts val="700"/>
              </a:spcAft>
            </a:pPr>
            <a:r>
              <a:rPr sz="1050" b="0" i="0">
                <a:solidFill>
                  <a:srgbClr val="5F6A78"/>
                </a:solidFill>
                <a:latin typeface="Segoe UI"/>
              </a:rPr>
              <a:t>105 cases on Microsoft's real Power Fx engine, the v10 YAML on Microsoft's open-source workflow engine, 94 read-only checks of the live configuration.</a:t>
            </a:r>
          </a:p>
        </p:txBody>
      </p:sp>
      <p:sp>
        <p:nvSpPr>
          <p:cNvPr id="9" name="TextBox 8"/>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pic>
        <p:nvPicPr>
          <p:cNvPr id="10" name="Picture 9" descr="GridResolve_Authentic_Foundry_Capture_Composite.png"/>
          <p:cNvPicPr>
            <a:picLocks noChangeAspect="1"/>
          </p:cNvPicPr>
          <p:nvPr/>
        </p:nvPicPr>
        <p:blipFill>
          <a:blip r:embed="rId2"/>
          <a:stretch>
            <a:fillRect/>
          </a:stretch>
        </p:blipFill>
        <p:spPr>
          <a:xfrm>
            <a:off x="566928" y="2196534"/>
            <a:ext cx="5907023" cy="33244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GENUINE RUNTIME DEMONSTRATION</a:t>
            </a:r>
          </a:p>
          <a:p>
            <a:pPr>
              <a:spcAft>
                <a:spcPts val="200"/>
              </a:spcAft>
            </a:pPr>
            <a:r>
              <a:rPr sz="2800" b="1" i="0">
                <a:solidFill>
                  <a:srgbClr val="161A20"/>
                </a:solidFill>
                <a:latin typeface="Segoe UI"/>
              </a:rPr>
              <a:t>Final run on workflow v10: 14 of 14 criteria passed</a:t>
            </a:r>
          </a:p>
          <a:p>
            <a:pPr>
              <a:spcAft>
                <a:spcPts val="0"/>
              </a:spcAft>
            </a:pPr>
            <a:r>
              <a:rPr sz="1300" b="0" i="0">
                <a:solidFill>
                  <a:srgbClr val="5F6A78"/>
                </a:solidFill>
                <a:latin typeface="Segoe UI"/>
              </a:rPr>
              <a:t>Criteria were written down before the run. Every figure below is read from the run's evidence folder</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7784" y="1746504"/>
            <a:ext cx="2907791"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Checked</a:t>
            </a:r>
          </a:p>
        </p:txBody>
      </p:sp>
      <p:sp>
        <p:nvSpPr>
          <p:cNvPr id="6" name="TextBox 5"/>
          <p:cNvSpPr txBox="1"/>
          <p:nvPr/>
        </p:nvSpPr>
        <p:spPr>
          <a:xfrm>
            <a:off x="3575303" y="1746504"/>
            <a:ext cx="318211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Platform record</a:t>
            </a:r>
          </a:p>
        </p:txBody>
      </p:sp>
      <p:sp>
        <p:nvSpPr>
          <p:cNvPr id="7" name="Rectangle 6"/>
          <p:cNvSpPr/>
          <p:nvPr/>
        </p:nvSpPr>
        <p:spPr>
          <a:xfrm>
            <a:off x="502920" y="205740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784" y="211226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Agents that did their work</a:t>
            </a:r>
          </a:p>
        </p:txBody>
      </p:sp>
      <p:sp>
        <p:nvSpPr>
          <p:cNvPr id="9" name="TextBox 8"/>
          <p:cNvSpPr txBox="1"/>
          <p:nvPr/>
        </p:nvSpPr>
        <p:spPr>
          <a:xfrm>
            <a:off x="3575303" y="211226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9 of 9</a:t>
            </a:r>
          </a:p>
        </p:txBody>
      </p:sp>
      <p:sp>
        <p:nvSpPr>
          <p:cNvPr id="10" name="Rectangle 9"/>
          <p:cNvSpPr/>
          <p:nvPr/>
        </p:nvSpPr>
        <p:spPr>
          <a:xfrm>
            <a:off x="502920" y="242316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 y="247802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Evidence ledger</a:t>
            </a:r>
          </a:p>
        </p:txBody>
      </p:sp>
      <p:sp>
        <p:nvSpPr>
          <p:cNvPr id="12" name="TextBox 11"/>
          <p:cNvSpPr txBox="1"/>
          <p:nvPr/>
        </p:nvSpPr>
        <p:spPr>
          <a:xfrm>
            <a:off x="3575303" y="247802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22 entries, all matched to the case</a:t>
            </a:r>
          </a:p>
        </p:txBody>
      </p:sp>
      <p:sp>
        <p:nvSpPr>
          <p:cNvPr id="13" name="Rectangle 12"/>
          <p:cNvSpPr/>
          <p:nvPr/>
        </p:nvSpPr>
        <p:spPr>
          <a:xfrm>
            <a:off x="502920" y="278892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784" y="284378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Policies mapped</a:t>
            </a:r>
          </a:p>
        </p:txBody>
      </p:sp>
      <p:sp>
        <p:nvSpPr>
          <p:cNvPr id="15" name="TextBox 14"/>
          <p:cNvSpPr txBox="1"/>
          <p:nvPr/>
        </p:nvSpPr>
        <p:spPr>
          <a:xfrm>
            <a:off x="3575303" y="284378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9, none invented</a:t>
            </a:r>
          </a:p>
        </p:txBody>
      </p:sp>
      <p:sp>
        <p:nvSpPr>
          <p:cNvPr id="16" name="Rectangle 15"/>
          <p:cNvSpPr/>
          <p:nvPr/>
        </p:nvSpPr>
        <p:spPr>
          <a:xfrm>
            <a:off x="502920" y="3154679"/>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7784" y="320954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Register vs billed</a:t>
            </a:r>
          </a:p>
        </p:txBody>
      </p:sp>
      <p:sp>
        <p:nvSpPr>
          <p:cNvPr id="18" name="TextBox 17"/>
          <p:cNvSpPr txBox="1"/>
          <p:nvPr/>
        </p:nvSpPr>
        <p:spPr>
          <a:xfrm>
            <a:off x="3575303" y="320954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870 kWh vs 870 kWh</a:t>
            </a:r>
          </a:p>
        </p:txBody>
      </p:sp>
      <p:sp>
        <p:nvSpPr>
          <p:cNvPr id="19" name="Rectangle 18"/>
          <p:cNvSpPr/>
          <p:nvPr/>
        </p:nvSpPr>
        <p:spPr>
          <a:xfrm>
            <a:off x="502920" y="3520439"/>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3575303"/>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Meter failure asserted</a:t>
            </a:r>
          </a:p>
        </p:txBody>
      </p:sp>
      <p:sp>
        <p:nvSpPr>
          <p:cNvPr id="21" name="TextBox 20"/>
          <p:cNvSpPr txBox="1"/>
          <p:nvPr/>
        </p:nvSpPr>
        <p:spPr>
          <a:xfrm>
            <a:off x="3575303" y="3575303"/>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a:t>
            </a:r>
          </a:p>
        </p:txBody>
      </p:sp>
      <p:sp>
        <p:nvSpPr>
          <p:cNvPr id="22" name="Rectangle 21"/>
          <p:cNvSpPr/>
          <p:nvPr/>
        </p:nvSpPr>
        <p:spPr>
          <a:xfrm>
            <a:off x="502920" y="388620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7784" y="3941063"/>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Credit promised</a:t>
            </a:r>
          </a:p>
        </p:txBody>
      </p:sp>
      <p:sp>
        <p:nvSpPr>
          <p:cNvPr id="24" name="TextBox 23"/>
          <p:cNvSpPr txBox="1"/>
          <p:nvPr/>
        </p:nvSpPr>
        <p:spPr>
          <a:xfrm>
            <a:off x="3575303" y="3941063"/>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a:t>
            </a:r>
          </a:p>
        </p:txBody>
      </p:sp>
      <p:sp>
        <p:nvSpPr>
          <p:cNvPr id="25" name="Rectangle 24"/>
          <p:cNvSpPr/>
          <p:nvPr/>
        </p:nvSpPr>
        <p:spPr>
          <a:xfrm>
            <a:off x="502920" y="425196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7784" y="430682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Compliance</a:t>
            </a:r>
          </a:p>
        </p:txBody>
      </p:sp>
      <p:sp>
        <p:nvSpPr>
          <p:cNvPr id="27" name="TextBox 26"/>
          <p:cNvSpPr txBox="1"/>
          <p:nvPr/>
        </p:nvSpPr>
        <p:spPr>
          <a:xfrm>
            <a:off x="3575303" y="430682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APPROVE, with recorded reasons</a:t>
            </a:r>
          </a:p>
        </p:txBody>
      </p:sp>
      <p:sp>
        <p:nvSpPr>
          <p:cNvPr id="28" name="Rectangle 27"/>
          <p:cNvSpPr/>
          <p:nvPr/>
        </p:nvSpPr>
        <p:spPr>
          <a:xfrm>
            <a:off x="502920" y="461772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7784" y="467258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Route</a:t>
            </a:r>
          </a:p>
        </p:txBody>
      </p:sp>
      <p:sp>
        <p:nvSpPr>
          <p:cNvPr id="30" name="TextBox 29"/>
          <p:cNvSpPr txBox="1"/>
          <p:nvPr/>
        </p:nvSpPr>
        <p:spPr>
          <a:xfrm>
            <a:off x="3575303" y="467258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message released; review package ready</a:t>
            </a:r>
          </a:p>
        </p:txBody>
      </p:sp>
      <p:sp>
        <p:nvSpPr>
          <p:cNvPr id="31" name="Rectangle 30"/>
          <p:cNvSpPr/>
          <p:nvPr/>
        </p:nvSpPr>
        <p:spPr>
          <a:xfrm>
            <a:off x="502920" y="498348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57784" y="503834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Audit vs platform</a:t>
            </a:r>
          </a:p>
        </p:txBody>
      </p:sp>
      <p:sp>
        <p:nvSpPr>
          <p:cNvPr id="33" name="TextBox 32"/>
          <p:cNvSpPr txBox="1"/>
          <p:nvPr/>
        </p:nvSpPr>
        <p:spPr>
          <a:xfrm>
            <a:off x="3575303" y="503834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 findings</a:t>
            </a:r>
          </a:p>
        </p:txBody>
      </p:sp>
      <p:sp>
        <p:nvSpPr>
          <p:cNvPr id="34" name="Rectangle 33"/>
          <p:cNvSpPr/>
          <p:nvPr/>
        </p:nvSpPr>
        <p:spPr>
          <a:xfrm>
            <a:off x="502920" y="534924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7784" y="540410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Tokens, cost</a:t>
            </a:r>
          </a:p>
        </p:txBody>
      </p:sp>
      <p:sp>
        <p:nvSpPr>
          <p:cNvPr id="36" name="TextBox 35"/>
          <p:cNvSpPr txBox="1"/>
          <p:nvPr/>
        </p:nvSpPr>
        <p:spPr>
          <a:xfrm>
            <a:off x="3575303" y="540410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94,352 in, 22,433 out, about $0.07</a:t>
            </a:r>
          </a:p>
        </p:txBody>
      </p:sp>
      <p:sp>
        <p:nvSpPr>
          <p:cNvPr id="37" name="Rectangle 36"/>
          <p:cNvSpPr/>
          <p:nvPr/>
        </p:nvSpPr>
        <p:spPr>
          <a:xfrm>
            <a:off x="502920" y="571500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086600" y="1691640"/>
            <a:ext cx="4572000" cy="26060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269480" y="1810512"/>
            <a:ext cx="4206240" cy="2468880"/>
          </a:xfrm>
          <a:prstGeom prst="rect">
            <a:avLst/>
          </a:prstGeom>
          <a:noFill/>
        </p:spPr>
        <p:txBody>
          <a:bodyPr wrap="square" lIns="0" tIns="0" rIns="0" bIns="0">
            <a:spAutoFit/>
          </a:bodyPr>
          <a:lstStyle/>
          <a:p>
            <a:pPr>
              <a:spcAft>
                <a:spcPts val="600"/>
              </a:spcAft>
            </a:pPr>
            <a:r>
              <a:rPr sz="1000" b="1" i="0">
                <a:solidFill>
                  <a:srgbClr val="1A6A8F"/>
                </a:solidFill>
                <a:latin typeface="Segoe UI"/>
              </a:rPr>
              <a:t>SYNTHETIC CUSTOMER-FACING OUTPUT, EXCERPT</a:t>
            </a:r>
          </a:p>
          <a:p>
            <a:pPr>
              <a:spcAft>
                <a:spcPts val="700"/>
              </a:spcAft>
            </a:pPr>
            <a:r>
              <a:rPr sz="1150" b="0" i="0">
                <a:solidFill>
                  <a:srgbClr val="161A20"/>
                </a:solidFill>
                <a:latin typeface="Segoe UI"/>
              </a:rPr>
              <a:t>The meter register increased from 41,820 kWh on 2026-06-30 to 42,690 kWh on 2026-07-31, a change of 870 kWh. That register change matches the 870 kWh billed for July 2026.</a:t>
            </a:r>
          </a:p>
          <a:p>
            <a:pPr>
              <a:spcAft>
                <a:spcPts val="700"/>
              </a:spcAft>
            </a:pPr>
            <a:r>
              <a:rPr sz="1150" b="0" i="0">
                <a:solidFill>
                  <a:srgbClr val="161A20"/>
                </a:solidFill>
                <a:latin typeface="Segoe UI"/>
              </a:rPr>
              <a:t>We did not find evidence in the supplied diagnostics or event logs that the meter over-recorded usage.</a:t>
            </a:r>
          </a:p>
          <a:p>
            <a:pPr>
              <a:spcAft>
                <a:spcPts val="700"/>
              </a:spcAft>
            </a:pPr>
            <a:r>
              <a:rPr sz="1150" b="0" i="0">
                <a:solidFill>
                  <a:srgbClr val="161A20"/>
                </a:solidFill>
                <a:latin typeface="Segoe UI"/>
              </a:rPr>
              <a:t>However, remote diagnostics have limits and do not absolutely rule out intermittent or installation issues.</a:t>
            </a:r>
          </a:p>
          <a:p>
            <a:pPr>
              <a:spcAft>
                <a:spcPts val="0"/>
              </a:spcAft>
            </a:pPr>
            <a:r>
              <a:rPr sz="1050" b="0" i="1">
                <a:solidFill>
                  <a:srgbClr val="5F6A78"/>
                </a:solidFill>
                <a:latin typeface="Segoe UI"/>
              </a:rPr>
              <a:t>Three sentences of a 2592 character, six-part message. It promises no credit and offers a human-reviewed inspection.</a:t>
            </a:r>
          </a:p>
        </p:txBody>
      </p:sp>
      <p:sp>
        <p:nvSpPr>
          <p:cNvPr id="40" name="Rectangle 39"/>
          <p:cNvSpPr/>
          <p:nvPr/>
        </p:nvSpPr>
        <p:spPr>
          <a:xfrm>
            <a:off x="7086600" y="4434840"/>
            <a:ext cx="4572000" cy="12801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69480" y="4535424"/>
            <a:ext cx="4206240" cy="1143000"/>
          </a:xfrm>
          <a:prstGeom prst="rect">
            <a:avLst/>
          </a:prstGeom>
          <a:noFill/>
        </p:spPr>
        <p:txBody>
          <a:bodyPr wrap="square" lIns="0" tIns="0" rIns="0" bIns="0">
            <a:spAutoFit/>
          </a:bodyPr>
          <a:lstStyle/>
          <a:p>
            <a:pPr>
              <a:spcAft>
                <a:spcPts val="500"/>
              </a:spcAft>
            </a:pPr>
            <a:r>
              <a:rPr sz="1000" b="1" i="0">
                <a:solidFill>
                  <a:srgbClr val="1A6A8F"/>
                </a:solidFill>
                <a:latin typeface="Segoe UI"/>
              </a:rPr>
              <a:t>HUMAN-REVIEW PACKAGE PREPARED SEPARATELY</a:t>
            </a:r>
          </a:p>
          <a:p>
            <a:pPr>
              <a:spcAft>
                <a:spcPts val="0"/>
              </a:spcAft>
            </a:pPr>
            <a:r>
              <a:rPr sz="1100" b="0" i="0">
                <a:solidFill>
                  <a:srgbClr val="161A20"/>
                </a:solidFill>
                <a:latin typeface="Segoe UI"/>
              </a:rPr>
              <a:t>For Billing Supervisor role, status PENDING_HUMAN_REVIEW. Proposed decision: whether to perform an on-site inspection and/or authorize a financial adjustment. No actual employee was notified.</a:t>
            </a:r>
          </a:p>
        </p:txBody>
      </p:sp>
      <p:sp>
        <p:nvSpPr>
          <p:cNvPr id="42" name="TextBox 41"/>
          <p:cNvSpPr txBox="1"/>
          <p:nvPr/>
        </p:nvSpPr>
        <p:spPr>
          <a:xfrm>
            <a:off x="502920" y="5870448"/>
            <a:ext cx="11155680" cy="502920"/>
          </a:xfrm>
          <a:prstGeom prst="rect">
            <a:avLst/>
          </a:prstGeom>
          <a:noFill/>
        </p:spPr>
        <p:txBody>
          <a:bodyPr wrap="square" lIns="0" tIns="0" rIns="0" bIns="0">
            <a:spAutoFit/>
          </a:bodyPr>
          <a:lstStyle/>
          <a:p>
            <a:pPr>
              <a:spcAft>
                <a:spcPts val="0"/>
              </a:spcAft>
            </a:pPr>
            <a:r>
              <a:rPr sz="1200" b="1" i="0">
                <a:solidFill>
                  <a:srgbClr val="267652"/>
                </a:solidFill>
                <a:latin typeface="Segoe UI"/>
              </a:rPr>
              <a:t>Compliance approved this message. It did not reject it, and the final run did not take the fail-closed route. That route was demonstrated in run 2.</a:t>
            </a:r>
          </a:p>
        </p:txBody>
      </p:sp>
      <p:sp>
        <p:nvSpPr>
          <p:cNvPr id="43" name="TextBox 42"/>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Source: evidence/runtime/20260921T000142Z_SYN-CASE-4003_c2be2b51   |   docs/FINAL_RUN_RESULT_2026-09-20.md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GOVERNANCE AND COMPLIANCE</a:t>
            </a:r>
          </a:p>
          <a:p>
            <a:pPr>
              <a:spcAft>
                <a:spcPts val="200"/>
              </a:spcAft>
            </a:pPr>
            <a:r>
              <a:rPr sz="2800" b="1" i="0">
                <a:solidFill>
                  <a:srgbClr val="161A20"/>
                </a:solidFill>
                <a:latin typeface="Segoe UI"/>
              </a:rPr>
              <a:t>Release is the exception, and it has to be earned</a:t>
            </a:r>
          </a:p>
          <a:p>
            <a:pPr>
              <a:spcAft>
                <a:spcPts val="0"/>
              </a:spcAft>
            </a:pPr>
            <a:r>
              <a:rPr sz="1300" b="0" i="0">
                <a:solidFill>
                  <a:srgbClr val="5F6A78"/>
                </a:solidFill>
                <a:latin typeface="Segoe UI"/>
              </a:rPr>
              <a:t>Independent review, human authority over money, and an audit that is checked against the platform</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5394960" cy="4023360"/>
          </a:xfrm>
          <a:prstGeom prst="rect">
            <a:avLst/>
          </a:prstGeom>
          <a:noFill/>
        </p:spPr>
        <p:txBody>
          <a:bodyPr wrap="square" lIns="0" tIns="0" rIns="0" bIns="0">
            <a:spAutoFit/>
          </a:bodyPr>
          <a:lstStyle/>
          <a:p>
            <a:pPr>
              <a:spcAft>
                <a:spcPts val="600"/>
              </a:spcAft>
            </a:pPr>
            <a:r>
              <a:rPr sz="1100" b="1" i="0">
                <a:solidFill>
                  <a:srgbClr val="1A6A8F"/>
                </a:solidFill>
                <a:latin typeface="Segoe UI"/>
              </a:rPr>
              <a:t>CONTROLS</a:t>
            </a:r>
          </a:p>
          <a:p>
            <a:pPr>
              <a:spcAft>
                <a:spcPts val="100"/>
              </a:spcAft>
            </a:pPr>
            <a:r>
              <a:rPr sz="1200" b="1" i="0">
                <a:solidFill>
                  <a:srgbClr val="161A20"/>
                </a:solidFill>
                <a:latin typeface="Segoe UI"/>
              </a:rPr>
              <a:t>Independent compliance</a:t>
            </a:r>
          </a:p>
          <a:p>
            <a:pPr>
              <a:spcAft>
                <a:spcPts val="700"/>
              </a:spcAft>
            </a:pPr>
            <a:r>
              <a:rPr sz="1100" b="0" i="0">
                <a:solidFill>
                  <a:srgbClr val="5F6A78"/>
                </a:solidFill>
                <a:latin typeface="Segoe UI"/>
              </a:rPr>
              <a:t>A different agent, twenty checks, four decisions, no tools. It must give reasons. A bare verdict now withholds the message.</a:t>
            </a:r>
          </a:p>
          <a:p>
            <a:pPr>
              <a:spcAft>
                <a:spcPts val="100"/>
              </a:spcAft>
            </a:pPr>
            <a:r>
              <a:rPr sz="1200" b="1" i="0">
                <a:solidFill>
                  <a:srgbClr val="161A20"/>
                </a:solidFill>
                <a:latin typeface="Segoe UI"/>
              </a:rPr>
              <a:t>Two separate questions</a:t>
            </a:r>
          </a:p>
          <a:p>
            <a:pPr>
              <a:spcAft>
                <a:spcPts val="700"/>
              </a:spcAft>
            </a:pPr>
            <a:r>
              <a:rPr sz="1100" b="0" i="0">
                <a:solidFill>
                  <a:srgbClr val="5F6A78"/>
                </a:solidFill>
                <a:latin typeface="Segoe UI"/>
              </a:rPr>
              <a:t>Is this message safe to send, and does this case still need a person. In the final run the answers were yes and yes.</a:t>
            </a:r>
          </a:p>
          <a:p>
            <a:pPr>
              <a:spcAft>
                <a:spcPts val="100"/>
              </a:spcAft>
            </a:pPr>
            <a:r>
              <a:rPr sz="1200" b="1" i="0">
                <a:solidFill>
                  <a:srgbClr val="161A20"/>
                </a:solidFill>
                <a:latin typeface="Segoe UI"/>
              </a:rPr>
              <a:t>Human authority</a:t>
            </a:r>
          </a:p>
          <a:p>
            <a:pPr>
              <a:spcAft>
                <a:spcPts val="700"/>
              </a:spcAft>
            </a:pPr>
            <a:r>
              <a:rPr sz="1100" b="0" i="0">
                <a:solidFill>
                  <a:srgbClr val="5F6A78"/>
                </a:solidFill>
                <a:latin typeface="Segoe UI"/>
              </a:rPr>
              <a:t>No agent can authorize a credit or adjustment. The final run prepared a Billing Supervisor review package with a decision card: 4 known facts, 4 unknowns, policies, risk, next step.</a:t>
            </a:r>
          </a:p>
          <a:p>
            <a:pPr>
              <a:spcAft>
                <a:spcPts val="100"/>
              </a:spcAft>
            </a:pPr>
            <a:r>
              <a:rPr sz="1200" b="1" i="0">
                <a:solidFill>
                  <a:srgbClr val="161A20"/>
                </a:solidFill>
                <a:latin typeface="Segoe UI"/>
              </a:rPr>
              <a:t>The audit is not trusted</a:t>
            </a:r>
          </a:p>
          <a:p>
            <a:pPr>
              <a:spcAft>
                <a:spcPts val="700"/>
              </a:spcAft>
            </a:pPr>
            <a:r>
              <a:rPr sz="1100" b="0" i="0">
                <a:solidFill>
                  <a:srgbClr val="5F6A78"/>
                </a:solidFill>
                <a:latin typeface="Segoe UI"/>
              </a:rPr>
              <a:t>The runner compares the audit record with the platform's own record of who ran, which branch was taken and what was delivered.</a:t>
            </a:r>
          </a:p>
        </p:txBody>
      </p:sp>
      <p:sp>
        <p:nvSpPr>
          <p:cNvPr id="6" name="Rectangle 5"/>
          <p:cNvSpPr/>
          <p:nvPr/>
        </p:nvSpPr>
        <p:spPr>
          <a:xfrm>
            <a:off x="6263640" y="1737360"/>
            <a:ext cx="5394960" cy="19659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46520" y="1847088"/>
            <a:ext cx="5029200" cy="1828800"/>
          </a:xfrm>
          <a:prstGeom prst="rect">
            <a:avLst/>
          </a:prstGeom>
          <a:noFill/>
        </p:spPr>
        <p:txBody>
          <a:bodyPr wrap="square" lIns="0" tIns="0" rIns="0" bIns="0">
            <a:spAutoFit/>
          </a:bodyPr>
          <a:lstStyle/>
          <a:p>
            <a:pPr>
              <a:spcAft>
                <a:spcPts val="600"/>
              </a:spcAft>
            </a:pPr>
            <a:r>
              <a:rPr sz="1000" b="1" i="0">
                <a:solidFill>
                  <a:srgbClr val="1A6A8F"/>
                </a:solidFill>
                <a:latin typeface="Segoe UI"/>
              </a:rPr>
              <a:t>COMPLIANCE REASONS, FINAL RUN, VERBATIM EXCERPT</a:t>
            </a:r>
          </a:p>
          <a:p>
            <a:pPr>
              <a:spcAft>
                <a:spcPts val="600"/>
              </a:spcAft>
            </a:pPr>
            <a:r>
              <a:rPr sz="1100" b="0" i="0">
                <a:solidFill>
                  <a:srgbClr val="161A20"/>
                </a:solidFill>
                <a:latin typeface="Segoe UI"/>
              </a:rPr>
              <a:t>All required checks passed: the customer message correctly cites evidence IDs showing meter register delta (EVID-READ-0003-A-REG, EVID-READ-0003-B-REG) equals billed kWh (EVID-BILL-0003-07-KWH) and references remote diagnostics (EVID-DIAG-0003-01-RESULT, EVID-DIAG-0003-01-TAMPER, EVID-DIAG-0003-01-FAULT) showing PASS/no tamper/ no register fault.</a:t>
            </a:r>
          </a:p>
          <a:p>
            <a:pPr>
              <a:spcAft>
                <a:spcPts val="0"/>
              </a:spcAft>
            </a:pPr>
            <a:r>
              <a:rPr sz="1050" b="0" i="1">
                <a:solidFill>
                  <a:srgbClr val="5F6A78"/>
                </a:solidFill>
                <a:latin typeface="Segoe UI"/>
              </a:rPr>
              <a:t>Decision APPROVE, failed checks 0, token on the final line.</a:t>
            </a:r>
          </a:p>
        </p:txBody>
      </p:sp>
      <p:sp>
        <p:nvSpPr>
          <p:cNvPr id="9" name="TextBox 8"/>
          <p:cNvSpPr txBox="1"/>
          <p:nvPr/>
        </p:nvSpPr>
        <p:spPr>
          <a:xfrm>
            <a:off x="6263640" y="6053328"/>
            <a:ext cx="5394960" cy="274320"/>
          </a:xfrm>
          <a:prstGeom prst="rect">
            <a:avLst/>
          </a:prstGeom>
          <a:noFill/>
        </p:spPr>
        <p:txBody>
          <a:bodyPr wrap="square" lIns="0" tIns="0" rIns="0" bIns="0">
            <a:spAutoFit/>
          </a:bodyPr>
          <a:lstStyle/>
          <a:p>
            <a:pPr>
              <a:spcAft>
                <a:spcPts val="0"/>
              </a:spcAft>
            </a:pPr>
            <a:r>
              <a:rPr sz="1000" b="0" i="0">
                <a:solidFill>
                  <a:srgbClr val="5F6A78"/>
                </a:solidFill>
                <a:latin typeface="Segoe UI"/>
              </a:rPr>
              <a:t>Readable summary of local case provenance. Not a Foundry capture.</a:t>
            </a:r>
          </a:p>
        </p:txBody>
      </p:sp>
      <p:sp>
        <p:nvSpPr>
          <p:cNvPr id="10" name="TextBox 9"/>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pic>
        <p:nvPicPr>
          <p:cNvPr id="11" name="Picture 10" descr="GridResolve_Claim_Provenance_Card.png"/>
          <p:cNvPicPr>
            <a:picLocks noChangeAspect="1"/>
          </p:cNvPicPr>
          <p:nvPr/>
        </p:nvPicPr>
        <p:blipFill>
          <a:blip r:embed="rId2"/>
          <a:stretch>
            <a:fillRect/>
          </a:stretch>
        </p:blipFill>
        <p:spPr>
          <a:xfrm>
            <a:off x="6263640" y="4009705"/>
            <a:ext cx="5394960" cy="18103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RESULTS AND LESSONS</a:t>
            </a:r>
          </a:p>
          <a:p>
            <a:pPr>
              <a:spcAft>
                <a:spcPts val="200"/>
              </a:spcAft>
            </a:pPr>
            <a:r>
              <a:rPr sz="2800" b="1" i="0">
                <a:solidFill>
                  <a:srgbClr val="161A20"/>
                </a:solidFill>
                <a:latin typeface="Segoe UI"/>
              </a:rPr>
              <a:t>Three real runs, and what each one taught</a:t>
            </a:r>
          </a:p>
          <a:p>
            <a:pPr>
              <a:spcAft>
                <a:spcPts val="0"/>
              </a:spcAft>
            </a:pPr>
            <a:r>
              <a:rPr sz="1300" b="0" i="0">
                <a:solidFill>
                  <a:srgbClr val="5F6A78"/>
                </a:solidFill>
                <a:latin typeface="Segoe UI"/>
              </a:rPr>
              <a:t>All three evidence folders are in the repository, unedited</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7784" y="1746504"/>
            <a:ext cx="2267712" cy="365760"/>
          </a:xfrm>
          <a:prstGeom prst="rect">
            <a:avLst/>
          </a:prstGeom>
          <a:noFill/>
        </p:spPr>
        <p:txBody>
          <a:bodyPr wrap="square" lIns="0" tIns="0" rIns="0" bIns="0">
            <a:spAutoFit/>
          </a:bodyPr>
          <a:lstStyle/>
          <a:p>
            <a:pPr>
              <a:spcAft>
                <a:spcPts val="0"/>
              </a:spcAft>
            </a:pPr>
            <a:endParaRPr/>
          </a:p>
        </p:txBody>
      </p:sp>
      <p:sp>
        <p:nvSpPr>
          <p:cNvPr id="6" name="TextBox 5"/>
          <p:cNvSpPr txBox="1"/>
          <p:nvPr/>
        </p:nvSpPr>
        <p:spPr>
          <a:xfrm>
            <a:off x="2935224" y="1746504"/>
            <a:ext cx="281635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Run 1, workflow v6</a:t>
            </a:r>
          </a:p>
        </p:txBody>
      </p:sp>
      <p:sp>
        <p:nvSpPr>
          <p:cNvPr id="7" name="TextBox 6"/>
          <p:cNvSpPr txBox="1"/>
          <p:nvPr/>
        </p:nvSpPr>
        <p:spPr>
          <a:xfrm>
            <a:off x="5861304" y="1746504"/>
            <a:ext cx="281635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Run 2, workflow v9</a:t>
            </a:r>
          </a:p>
        </p:txBody>
      </p:sp>
      <p:sp>
        <p:nvSpPr>
          <p:cNvPr id="8" name="TextBox 7"/>
          <p:cNvSpPr txBox="1"/>
          <p:nvPr/>
        </p:nvSpPr>
        <p:spPr>
          <a:xfrm>
            <a:off x="8787384" y="1746504"/>
            <a:ext cx="281635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Final run, workflow v10</a:t>
            </a:r>
          </a:p>
        </p:txBody>
      </p:sp>
      <p:sp>
        <p:nvSpPr>
          <p:cNvPr id="9" name="Rectangle 8"/>
          <p:cNvSpPr/>
          <p:nvPr/>
        </p:nvSpPr>
        <p:spPr>
          <a:xfrm>
            <a:off x="502920" y="205740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784" y="211226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Agents that did their work</a:t>
            </a:r>
          </a:p>
        </p:txBody>
      </p:sp>
      <p:sp>
        <p:nvSpPr>
          <p:cNvPr id="11" name="TextBox 10"/>
          <p:cNvSpPr txBox="1"/>
          <p:nvPr/>
        </p:nvSpPr>
        <p:spPr>
          <a:xfrm>
            <a:off x="2935224" y="211226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7 of 8</a:t>
            </a:r>
          </a:p>
        </p:txBody>
      </p:sp>
      <p:sp>
        <p:nvSpPr>
          <p:cNvPr id="12" name="TextBox 11"/>
          <p:cNvSpPr txBox="1"/>
          <p:nvPr/>
        </p:nvSpPr>
        <p:spPr>
          <a:xfrm>
            <a:off x="5861304" y="211226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6 of 9</a:t>
            </a:r>
          </a:p>
        </p:txBody>
      </p:sp>
      <p:sp>
        <p:nvSpPr>
          <p:cNvPr id="13" name="TextBox 12"/>
          <p:cNvSpPr txBox="1"/>
          <p:nvPr/>
        </p:nvSpPr>
        <p:spPr>
          <a:xfrm>
            <a:off x="8787384" y="211226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9 of 9</a:t>
            </a:r>
          </a:p>
        </p:txBody>
      </p:sp>
      <p:sp>
        <p:nvSpPr>
          <p:cNvPr id="14" name="Rectangle 13"/>
          <p:cNvSpPr/>
          <p:nvPr/>
        </p:nvSpPr>
        <p:spPr>
          <a:xfrm>
            <a:off x="502920" y="242316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7784" y="247802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Evidence ledger</a:t>
            </a:r>
          </a:p>
        </p:txBody>
      </p:sp>
      <p:sp>
        <p:nvSpPr>
          <p:cNvPr id="16" name="TextBox 15"/>
          <p:cNvSpPr txBox="1"/>
          <p:nvPr/>
        </p:nvSpPr>
        <p:spPr>
          <a:xfrm>
            <a:off x="2935224" y="24780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none</a:t>
            </a:r>
          </a:p>
        </p:txBody>
      </p:sp>
      <p:sp>
        <p:nvSpPr>
          <p:cNvPr id="17" name="TextBox 16"/>
          <p:cNvSpPr txBox="1"/>
          <p:nvPr/>
        </p:nvSpPr>
        <p:spPr>
          <a:xfrm>
            <a:off x="5861304" y="24780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none</a:t>
            </a:r>
          </a:p>
        </p:txBody>
      </p:sp>
      <p:sp>
        <p:nvSpPr>
          <p:cNvPr id="18" name="TextBox 17"/>
          <p:cNvSpPr txBox="1"/>
          <p:nvPr/>
        </p:nvSpPr>
        <p:spPr>
          <a:xfrm>
            <a:off x="8787384" y="247802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22 entries</a:t>
            </a:r>
          </a:p>
        </p:txBody>
      </p:sp>
      <p:sp>
        <p:nvSpPr>
          <p:cNvPr id="19" name="Rectangle 18"/>
          <p:cNvSpPr/>
          <p:nvPr/>
        </p:nvSpPr>
        <p:spPr>
          <a:xfrm>
            <a:off x="502920" y="278892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284378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Compliance</a:t>
            </a:r>
          </a:p>
        </p:txBody>
      </p:sp>
      <p:sp>
        <p:nvSpPr>
          <p:cNvPr id="21" name="TextBox 20"/>
          <p:cNvSpPr txBox="1"/>
          <p:nvPr/>
        </p:nvSpPr>
        <p:spPr>
          <a:xfrm>
            <a:off x="2935224" y="284378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approved</a:t>
            </a:r>
          </a:p>
        </p:txBody>
      </p:sp>
      <p:sp>
        <p:nvSpPr>
          <p:cNvPr id="22" name="TextBox 21"/>
          <p:cNvSpPr txBox="1"/>
          <p:nvPr/>
        </p:nvSpPr>
        <p:spPr>
          <a:xfrm>
            <a:off x="5861304" y="2843784"/>
            <a:ext cx="2816352" cy="365760"/>
          </a:xfrm>
          <a:prstGeom prst="rect">
            <a:avLst/>
          </a:prstGeom>
          <a:noFill/>
        </p:spPr>
        <p:txBody>
          <a:bodyPr wrap="square" lIns="0" tIns="0" rIns="0" bIns="0">
            <a:spAutoFit/>
          </a:bodyPr>
          <a:lstStyle/>
          <a:p>
            <a:pPr>
              <a:spcAft>
                <a:spcPts val="0"/>
              </a:spcAft>
            </a:pPr>
            <a:r>
              <a:rPr sz="1100" b="0" i="0">
                <a:solidFill>
                  <a:srgbClr val="B0561E"/>
                </a:solidFill>
                <a:latin typeface="Segoe UI"/>
              </a:rPr>
              <a:t>escalated, gave no reasons</a:t>
            </a:r>
          </a:p>
        </p:txBody>
      </p:sp>
      <p:sp>
        <p:nvSpPr>
          <p:cNvPr id="23" name="TextBox 22"/>
          <p:cNvSpPr txBox="1"/>
          <p:nvPr/>
        </p:nvSpPr>
        <p:spPr>
          <a:xfrm>
            <a:off x="8787384" y="284378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approved, with reasons</a:t>
            </a:r>
          </a:p>
        </p:txBody>
      </p:sp>
      <p:sp>
        <p:nvSpPr>
          <p:cNvPr id="24" name="Rectangle 23"/>
          <p:cNvSpPr/>
          <p:nvPr/>
        </p:nvSpPr>
        <p:spPr>
          <a:xfrm>
            <a:off x="502920" y="3154679"/>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57784" y="320954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Synthetic message output</a:t>
            </a:r>
          </a:p>
        </p:txBody>
      </p:sp>
      <p:sp>
        <p:nvSpPr>
          <p:cNvPr id="26" name="TextBox 25"/>
          <p:cNvSpPr txBox="1"/>
          <p:nvPr/>
        </p:nvSpPr>
        <p:spPr>
          <a:xfrm>
            <a:off x="2935224" y="3209544"/>
            <a:ext cx="2816352" cy="365760"/>
          </a:xfrm>
          <a:prstGeom prst="rect">
            <a:avLst/>
          </a:prstGeom>
          <a:noFill/>
        </p:spPr>
        <p:txBody>
          <a:bodyPr wrap="square" lIns="0" tIns="0" rIns="0" bIns="0">
            <a:spAutoFit/>
          </a:bodyPr>
          <a:lstStyle/>
          <a:p>
            <a:pPr>
              <a:spcAft>
                <a:spcPts val="0"/>
              </a:spcAft>
            </a:pPr>
            <a:r>
              <a:rPr sz="1100" b="0" i="0">
                <a:solidFill>
                  <a:srgbClr val="B0342E"/>
                </a:solidFill>
                <a:latin typeface="Segoe UI"/>
              </a:rPr>
              <a:t>an unevaluated expression</a:t>
            </a:r>
          </a:p>
        </p:txBody>
      </p:sp>
      <p:sp>
        <p:nvSpPr>
          <p:cNvPr id="27" name="TextBox 26"/>
          <p:cNvSpPr txBox="1"/>
          <p:nvPr/>
        </p:nvSpPr>
        <p:spPr>
          <a:xfrm>
            <a:off x="5861304" y="320954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nothing, failed safe</a:t>
            </a:r>
          </a:p>
        </p:txBody>
      </p:sp>
      <p:sp>
        <p:nvSpPr>
          <p:cNvPr id="28" name="TextBox 27"/>
          <p:cNvSpPr txBox="1"/>
          <p:nvPr/>
        </p:nvSpPr>
        <p:spPr>
          <a:xfrm>
            <a:off x="8787384" y="320954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a readable message</a:t>
            </a:r>
          </a:p>
        </p:txBody>
      </p:sp>
      <p:sp>
        <p:nvSpPr>
          <p:cNvPr id="29" name="Rectangle 28"/>
          <p:cNvSpPr/>
          <p:nvPr/>
        </p:nvSpPr>
        <p:spPr>
          <a:xfrm>
            <a:off x="502920" y="3520439"/>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7784" y="3575303"/>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Human follow-up</a:t>
            </a:r>
          </a:p>
        </p:txBody>
      </p:sp>
      <p:sp>
        <p:nvSpPr>
          <p:cNvPr id="31" name="TextBox 30"/>
          <p:cNvSpPr txBox="1"/>
          <p:nvPr/>
        </p:nvSpPr>
        <p:spPr>
          <a:xfrm>
            <a:off x="2935224" y="357530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not built</a:t>
            </a:r>
          </a:p>
        </p:txBody>
      </p:sp>
      <p:sp>
        <p:nvSpPr>
          <p:cNvPr id="32" name="TextBox 31"/>
          <p:cNvSpPr txBox="1"/>
          <p:nvPr/>
        </p:nvSpPr>
        <p:spPr>
          <a:xfrm>
            <a:off x="5861304" y="357530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escalation package</a:t>
            </a:r>
          </a:p>
        </p:txBody>
      </p:sp>
      <p:sp>
        <p:nvSpPr>
          <p:cNvPr id="33" name="TextBox 32"/>
          <p:cNvSpPr txBox="1"/>
          <p:nvPr/>
        </p:nvSpPr>
        <p:spPr>
          <a:xfrm>
            <a:off x="8787384" y="3575303"/>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handoff after the release</a:t>
            </a:r>
          </a:p>
        </p:txBody>
      </p:sp>
      <p:sp>
        <p:nvSpPr>
          <p:cNvPr id="34" name="Rectangle 33"/>
          <p:cNvSpPr/>
          <p:nvPr/>
        </p:nvSpPr>
        <p:spPr>
          <a:xfrm>
            <a:off x="502920" y="388620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7784" y="3941063"/>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Audit findings</a:t>
            </a:r>
          </a:p>
        </p:txBody>
      </p:sp>
      <p:sp>
        <p:nvSpPr>
          <p:cNvPr id="36" name="TextBox 35"/>
          <p:cNvSpPr txBox="1"/>
          <p:nvPr/>
        </p:nvSpPr>
        <p:spPr>
          <a:xfrm>
            <a:off x="2935224" y="394106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7</a:t>
            </a:r>
          </a:p>
        </p:txBody>
      </p:sp>
      <p:sp>
        <p:nvSpPr>
          <p:cNvPr id="37" name="TextBox 36"/>
          <p:cNvSpPr txBox="1"/>
          <p:nvPr/>
        </p:nvSpPr>
        <p:spPr>
          <a:xfrm>
            <a:off x="5861304" y="394106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6</a:t>
            </a:r>
          </a:p>
        </p:txBody>
      </p:sp>
      <p:sp>
        <p:nvSpPr>
          <p:cNvPr id="38" name="TextBox 37"/>
          <p:cNvSpPr txBox="1"/>
          <p:nvPr/>
        </p:nvSpPr>
        <p:spPr>
          <a:xfrm>
            <a:off x="8787384" y="3941063"/>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0</a:t>
            </a:r>
          </a:p>
        </p:txBody>
      </p:sp>
      <p:sp>
        <p:nvSpPr>
          <p:cNvPr id="39" name="Rectangle 38"/>
          <p:cNvSpPr/>
          <p:nvPr/>
        </p:nvSpPr>
        <p:spPr>
          <a:xfrm>
            <a:off x="502920" y="425196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57784" y="430682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Cost, provisional</a:t>
            </a:r>
          </a:p>
        </p:txBody>
      </p:sp>
      <p:sp>
        <p:nvSpPr>
          <p:cNvPr id="41" name="TextBox 40"/>
          <p:cNvSpPr txBox="1"/>
          <p:nvPr/>
        </p:nvSpPr>
        <p:spPr>
          <a:xfrm>
            <a:off x="2935224" y="43068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$0.0334</a:t>
            </a:r>
          </a:p>
        </p:txBody>
      </p:sp>
      <p:sp>
        <p:nvSpPr>
          <p:cNvPr id="42" name="TextBox 41"/>
          <p:cNvSpPr txBox="1"/>
          <p:nvPr/>
        </p:nvSpPr>
        <p:spPr>
          <a:xfrm>
            <a:off x="5861304" y="43068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$0.0292</a:t>
            </a:r>
          </a:p>
        </p:txBody>
      </p:sp>
      <p:sp>
        <p:nvSpPr>
          <p:cNvPr id="43" name="TextBox 42"/>
          <p:cNvSpPr txBox="1"/>
          <p:nvPr/>
        </p:nvSpPr>
        <p:spPr>
          <a:xfrm>
            <a:off x="8787384" y="43068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$0.0685</a:t>
            </a:r>
          </a:p>
        </p:txBody>
      </p:sp>
      <p:sp>
        <p:nvSpPr>
          <p:cNvPr id="44" name="Rectangle 43"/>
          <p:cNvSpPr/>
          <p:nvPr/>
        </p:nvSpPr>
        <p:spPr>
          <a:xfrm>
            <a:off x="502920" y="461772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2920" y="4754880"/>
            <a:ext cx="11155680" cy="1600200"/>
          </a:xfrm>
          <a:prstGeom prst="rect">
            <a:avLst/>
          </a:prstGeom>
          <a:noFill/>
        </p:spPr>
        <p:txBody>
          <a:bodyPr wrap="square" lIns="0" tIns="0" rIns="0" bIns="0">
            <a:spAutoFit/>
          </a:bodyPr>
          <a:lstStyle/>
          <a:p>
            <a:pPr>
              <a:spcAft>
                <a:spcPts val="600"/>
              </a:spcAft>
            </a:pPr>
            <a:r>
              <a:rPr sz="1100" b="1" i="0">
                <a:solidFill>
                  <a:srgbClr val="1A6A8F"/>
                </a:solidFill>
                <a:latin typeface="Segoe UI"/>
              </a:rPr>
              <a:t>KEY LESSONS LEARNED</a:t>
            </a:r>
          </a:p>
          <a:p>
            <a:pPr>
              <a:spcAft>
                <a:spcPts val="700"/>
              </a:spcAft>
            </a:pPr>
            <a:r>
              <a:rPr sz="1150" b="0" i="0">
                <a:solidFill>
                  <a:srgbClr val="161A20"/>
                </a:solidFill>
                <a:latin typeface="Segoe UI"/>
              </a:rPr>
              <a:t>1. Local tests did not catch what one real run caught. Run the real thing early, once, with evidence capture.   2. When a fix changes the wording of a failure but not the failure, the cause is elsewhere. The platform's record of what each agent received showed it: no new request on a shared conversation.   3. Fix acceptance criteria before the run, and report a branch not taken as not observable, never as a pass.   4. A model's own audit of a run is a claim, not a record. Check it against the platform.</a:t>
            </a:r>
          </a:p>
        </p:txBody>
      </p:sp>
      <p:sp>
        <p:nvSpPr>
          <p:cNvPr id="46" name="TextBox 45"/>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Why run 2 escalated is not established, and this project does not claim to know.   |   docs/CURRENT_STATUS.md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THE PATH TO PRODUCTION</a:t>
            </a:r>
          </a:p>
          <a:p>
            <a:pPr>
              <a:spcAft>
                <a:spcPts val="200"/>
              </a:spcAft>
            </a:pPr>
            <a:r>
              <a:rPr sz="2800" b="1" i="0">
                <a:solidFill>
                  <a:srgbClr val="161A20"/>
                </a:solidFill>
                <a:latin typeface="Segoe UI"/>
              </a:rPr>
              <a:t>What is built and tested, and what still needs a real utility</a:t>
            </a:r>
          </a:p>
          <a:p>
            <a:pPr>
              <a:spcAft>
                <a:spcPts val="0"/>
              </a:spcAft>
            </a:pPr>
            <a:r>
              <a:rPr sz="1300" b="0" i="0">
                <a:solidFill>
                  <a:srgbClr val="5F6A78"/>
                </a:solidFill>
                <a:latin typeface="Segoe UI"/>
              </a:rPr>
              <a:t>The hosted workflow is verified. The production path around it is built and tested locally</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5394960" cy="4206240"/>
          </a:xfrm>
          <a:prstGeom prst="rect">
            <a:avLst/>
          </a:prstGeom>
          <a:noFill/>
        </p:spPr>
        <p:txBody>
          <a:bodyPr wrap="square" lIns="0" tIns="0" rIns="0" bIns="0">
            <a:spAutoFit/>
          </a:bodyPr>
          <a:lstStyle/>
          <a:p>
            <a:pPr>
              <a:spcAft>
                <a:spcPts val="600"/>
              </a:spcAft>
            </a:pPr>
            <a:r>
              <a:rPr sz="1100" b="1" i="0">
                <a:solidFill>
                  <a:srgbClr val="1A6A8F"/>
                </a:solidFill>
                <a:latin typeface="Segoe UI"/>
              </a:rPr>
              <a:t>BUILT AND TESTED LOCALLY</a:t>
            </a:r>
          </a:p>
          <a:p>
            <a:pPr>
              <a:spcAft>
                <a:spcPts val="100"/>
              </a:spcAft>
            </a:pPr>
            <a:r>
              <a:rPr sz="1150" b="1" i="0">
                <a:solidFill>
                  <a:srgbClr val="161A20"/>
                </a:solidFill>
                <a:latin typeface="Segoe UI"/>
              </a:rPr>
              <a:t>Eight typed integration ports</a:t>
            </a:r>
          </a:p>
          <a:p>
            <a:pPr>
              <a:spcAft>
                <a:spcPts val="700"/>
              </a:spcAft>
            </a:pPr>
            <a:r>
              <a:rPr sz="1050" b="0" i="0">
                <a:solidFill>
                  <a:srgbClr val="5F6A78"/>
                </a:solidFill>
                <a:latin typeface="Segoe UI"/>
              </a:rPr>
              <a:t>Account, billing, meter and diagnostic evidence are read only and scoped to one case. CRM, review assignment, adjustment authorization and an append-only audit store. Synthetic adapters, 138 checks.</a:t>
            </a:r>
          </a:p>
          <a:p>
            <a:pPr>
              <a:spcAft>
                <a:spcPts val="100"/>
              </a:spcAft>
            </a:pPr>
            <a:r>
              <a:rPr sz="1150" b="1" i="0">
                <a:solidFill>
                  <a:srgbClr val="161A20"/>
                </a:solidFill>
                <a:latin typeface="Segoe UI"/>
              </a:rPr>
              <a:t>Money stays with a person</a:t>
            </a:r>
          </a:p>
          <a:p>
            <a:pPr>
              <a:spcAft>
                <a:spcPts val="700"/>
              </a:spcAft>
            </a:pPr>
            <a:r>
              <a:rPr sz="1050" b="0" i="0">
                <a:solidFill>
                  <a:srgbClr val="5F6A78"/>
                </a:solidFill>
                <a:latin typeface="Segoe UI"/>
              </a:rPr>
              <a:t>Only a human billing supervisor can authorize an adjustment. An agent principal is refused, a forged role is refused, and a supervisor cannot approve their own request. Tested.</a:t>
            </a:r>
          </a:p>
          <a:p>
            <a:pPr>
              <a:spcAft>
                <a:spcPts val="100"/>
              </a:spcAft>
            </a:pPr>
            <a:r>
              <a:rPr sz="1150" b="1" i="0">
                <a:solidFill>
                  <a:srgbClr val="161A20"/>
                </a:solidFill>
                <a:latin typeface="Segoe UI"/>
              </a:rPr>
              <a:t>Migration proof, 11 of 11</a:t>
            </a:r>
          </a:p>
          <a:p>
            <a:pPr>
              <a:spcAft>
                <a:spcPts val="700"/>
              </a:spcAft>
            </a:pPr>
            <a:r>
              <a:rPr sz="1050" b="0" i="0">
                <a:solidFill>
                  <a:srgbClr val="5F6A78"/>
                </a:solidFill>
                <a:latin typeface="Segoe UI"/>
              </a:rPr>
              <a:t>Foundry workflows retire on 2026-12-01. I replayed the final run's nine real agent outputs through Microsoft Agent Framework on the same YAML. Same agents, same branch, the same 2,592 characters released.</a:t>
            </a:r>
          </a:p>
          <a:p>
            <a:pPr>
              <a:spcAft>
                <a:spcPts val="100"/>
              </a:spcAft>
            </a:pPr>
            <a:r>
              <a:rPr sz="1150" b="1" i="0">
                <a:solidFill>
                  <a:srgbClr val="161A20"/>
                </a:solidFill>
                <a:latin typeface="Segoe UI"/>
              </a:rPr>
              <a:t>Policy catalog with provenance</a:t>
            </a:r>
          </a:p>
          <a:p>
            <a:pPr>
              <a:spcAft>
                <a:spcPts val="700"/>
              </a:spcAft>
            </a:pPr>
            <a:r>
              <a:rPr sz="1050" b="0" i="0">
                <a:solidFill>
                  <a:srgbClr val="5F6A78"/>
                </a:solidFill>
                <a:latin typeface="Segoe UI"/>
              </a:rPr>
              <a:t>Ten governed policies as versioned records. In the final run all 8 provenance links resolve, from the customer's words to the audit record.</a:t>
            </a:r>
          </a:p>
        </p:txBody>
      </p:sp>
      <p:sp>
        <p:nvSpPr>
          <p:cNvPr id="6" name="TextBox 5"/>
          <p:cNvSpPr txBox="1"/>
          <p:nvPr/>
        </p:nvSpPr>
        <p:spPr>
          <a:xfrm>
            <a:off x="6263640" y="1737360"/>
            <a:ext cx="5394960" cy="4206240"/>
          </a:xfrm>
          <a:prstGeom prst="rect">
            <a:avLst/>
          </a:prstGeom>
          <a:noFill/>
        </p:spPr>
        <p:txBody>
          <a:bodyPr wrap="square" lIns="0" tIns="0" rIns="0" bIns="0">
            <a:spAutoFit/>
          </a:bodyPr>
          <a:lstStyle/>
          <a:p>
            <a:pPr>
              <a:spcAft>
                <a:spcPts val="600"/>
              </a:spcAft>
            </a:pPr>
            <a:r>
              <a:rPr sz="1100" b="1" i="0">
                <a:solidFill>
                  <a:srgbClr val="1A6A8F"/>
                </a:solidFill>
                <a:latin typeface="Segoe UI"/>
              </a:rPr>
              <a:t>OPERATIONS, AND WHAT REMAINS</a:t>
            </a:r>
          </a:p>
          <a:p>
            <a:pPr>
              <a:spcAft>
                <a:spcPts val="100"/>
              </a:spcAft>
            </a:pPr>
            <a:r>
              <a:rPr sz="1150" b="1" i="0">
                <a:solidFill>
                  <a:srgbClr val="161A20"/>
                </a:solidFill>
                <a:latin typeface="Segoe UI"/>
              </a:rPr>
              <a:t>Foundry tracing, read back</a:t>
            </a:r>
          </a:p>
          <a:p>
            <a:pPr>
              <a:spcAft>
                <a:spcPts val="700"/>
              </a:spcAft>
            </a:pPr>
            <a:r>
              <a:rPr sz="1050" b="0" i="0">
                <a:solidFill>
                  <a:srgbClr val="5F6A78"/>
                </a:solidFill>
                <a:latin typeface="Segoe UI"/>
              </a:rPr>
              <a:t>61 platform spans across the three runs, none failed, no content filter block. Azure Monitor agrees with my token counts to the token.</a:t>
            </a:r>
          </a:p>
          <a:p>
            <a:pPr>
              <a:spcAft>
                <a:spcPts val="100"/>
              </a:spcAft>
            </a:pPr>
            <a:r>
              <a:rPr sz="1150" b="1" i="0">
                <a:solidFill>
                  <a:srgbClr val="161A20"/>
                </a:solidFill>
                <a:latin typeface="Segoe UI"/>
              </a:rPr>
              <a:t>What the traces taught me</a:t>
            </a:r>
          </a:p>
          <a:p>
            <a:pPr>
              <a:spcAft>
                <a:spcPts val="700"/>
              </a:spcAft>
            </a:pPr>
            <a:r>
              <a:rPr sz="1050" b="0" i="0">
                <a:solidFill>
                  <a:srgbClr val="5F6A78"/>
                </a:solidFill>
                <a:latin typeface="Segoe UI"/>
              </a:rPr>
              <a:t>Foundry marked every span successful, including the runs where agents stalled. Production alerts have to watch what an agent returned, not the status code.</a:t>
            </a:r>
          </a:p>
          <a:p>
            <a:pPr>
              <a:spcAft>
                <a:spcPts val="100"/>
              </a:spcAft>
            </a:pPr>
            <a:r>
              <a:rPr sz="1150" b="1" i="0">
                <a:solidFill>
                  <a:srgbClr val="161A20"/>
                </a:solidFill>
                <a:latin typeface="Segoe UI"/>
              </a:rPr>
              <a:t>Guardrails as configured</a:t>
            </a:r>
          </a:p>
          <a:p>
            <a:pPr>
              <a:spcAft>
                <a:spcPts val="700"/>
              </a:spcAft>
            </a:pPr>
            <a:r>
              <a:rPr sz="1050" b="0" i="0">
                <a:solidFill>
                  <a:srgbClr val="5F6A78"/>
                </a:solidFill>
                <a:latin typeface="Segoe UI"/>
              </a:rPr>
              <a:t>Microsoft.DefaultV2 is on the deployment and evaluated all 26 model calls. No custom policy exists, and I do not claim one.</a:t>
            </a:r>
          </a:p>
          <a:p>
            <a:pPr>
              <a:spcAft>
                <a:spcPts val="100"/>
              </a:spcAft>
            </a:pPr>
            <a:r>
              <a:rPr sz="1150" b="1" i="0">
                <a:solidFill>
                  <a:srgbClr val="161A20"/>
                </a:solidFill>
                <a:latin typeface="Segoe UI"/>
              </a:rPr>
              <a:t>Still to do with a utility</a:t>
            </a:r>
          </a:p>
          <a:p>
            <a:pPr>
              <a:spcAft>
                <a:spcPts val="700"/>
              </a:spcAft>
            </a:pPr>
            <a:r>
              <a:rPr sz="1050" b="0" i="0">
                <a:solidFill>
                  <a:srgbClr val="5F6A78"/>
                </a:solidFill>
                <a:latin typeface="Segoe UI"/>
              </a:rPr>
              <a:t>Connect the ports to real systems, close public network access and key authentication, pin the model version, decide content recording, add alerts and a budget, then pilot with billing supervisors.</a:t>
            </a:r>
          </a:p>
        </p:txBody>
      </p:sp>
      <p:sp>
        <p:nvSpPr>
          <p:cNvPr id="7" name="Rectangle 6"/>
          <p:cNvSpPr/>
          <p:nvPr/>
        </p:nvSpPr>
        <p:spPr>
          <a:xfrm>
            <a:off x="502920" y="5577840"/>
            <a:ext cx="11155680" cy="749808"/>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69280"/>
            <a:ext cx="10698480" cy="640080"/>
          </a:xfrm>
          <a:prstGeom prst="rect">
            <a:avLst/>
          </a:prstGeom>
          <a:noFill/>
        </p:spPr>
        <p:txBody>
          <a:bodyPr wrap="square" lIns="0" tIns="0" rIns="0" bIns="0">
            <a:spAutoFit/>
          </a:bodyPr>
          <a:lstStyle/>
          <a:p>
            <a:pPr>
              <a:spcAft>
                <a:spcPts val="0"/>
              </a:spcAft>
            </a:pPr>
            <a:r>
              <a:rPr sz="1150" b="1" i="0">
                <a:solidFill>
                  <a:srgbClr val="B0561E"/>
                </a:solidFill>
                <a:latin typeface="Segoe UI"/>
              </a:rPr>
              <a:t>NOT YET SHOWN:  repeatability, a second case, the fail-closed route on v10, the 30 evaluation cases and 16 adversarial scenarios, a correction loop, a real person being notified.</a:t>
            </a:r>
          </a:p>
        </p:txBody>
      </p:sp>
      <p:sp>
        <p:nvSpPr>
          <p:cNvPr id="9" name="TextBox 8"/>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CHECK IT YOURSELF</a:t>
            </a:r>
          </a:p>
          <a:p>
            <a:pPr>
              <a:spcAft>
                <a:spcPts val="200"/>
              </a:spcAft>
            </a:pPr>
            <a:r>
              <a:rPr sz="2800" b="1" i="0">
                <a:solidFill>
                  <a:srgbClr val="161A20"/>
                </a:solidFill>
                <a:latin typeface="Segoe UI"/>
              </a:rPr>
              <a:t>Every number here has a file behind it</a:t>
            </a:r>
          </a:p>
          <a:p>
            <a:pPr>
              <a:spcAft>
                <a:spcPts val="0"/>
              </a:spcAft>
            </a:pPr>
            <a:r>
              <a:rPr sz="1300" b="0" i="0">
                <a:solidFill>
                  <a:srgbClr val="5F6A78"/>
                </a:solidFill>
                <a:latin typeface="Segoe UI"/>
              </a:rPr>
              <a:t>Runtime numbers come from evidence files. Local numbers come from one command each</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5394960" cy="4480560"/>
          </a:xfrm>
          <a:prstGeom prst="rect">
            <a:avLst/>
          </a:prstGeom>
          <a:noFill/>
        </p:spPr>
        <p:txBody>
          <a:bodyPr wrap="square" lIns="0" tIns="0" rIns="0" bIns="0">
            <a:spAutoFit/>
          </a:bodyPr>
          <a:lstStyle/>
          <a:p>
            <a:pPr>
              <a:spcAft>
                <a:spcPts val="600"/>
              </a:spcAft>
            </a:pPr>
            <a:r>
              <a:rPr sz="1100" b="1" i="0">
                <a:solidFill>
                  <a:srgbClr val="1A6A8F"/>
                </a:solidFill>
                <a:latin typeface="Segoe UI"/>
              </a:rPr>
              <a:t>WHAT WAS VERIFIED</a:t>
            </a:r>
          </a:p>
          <a:p>
            <a:pPr>
              <a:spcAft>
                <a:spcPts val="100"/>
              </a:spcAft>
            </a:pPr>
            <a:r>
              <a:rPr sz="1150" b="1" i="0">
                <a:solidFill>
                  <a:srgbClr val="161A20"/>
                </a:solidFill>
                <a:latin typeface="Segoe UI"/>
              </a:rPr>
              <a:t>Three real Foundry runs</a:t>
            </a:r>
          </a:p>
          <a:p>
            <a:pPr>
              <a:spcAft>
                <a:spcPts val="700"/>
              </a:spcAft>
            </a:pPr>
            <a:r>
              <a:rPr sz="1050" b="0" i="0">
                <a:solidFill>
                  <a:srgbClr val="5F6A78"/>
                </a:solidFill>
                <a:latin typeface="Segoe UI"/>
              </a:rPr>
              <a:t>evidence/runtime/, three folders, unmodified. Re-read any of them offline: python -m runner analyze --run-dir &lt;folder&gt;</a:t>
            </a:r>
          </a:p>
          <a:p>
            <a:pPr>
              <a:spcAft>
                <a:spcPts val="100"/>
              </a:spcAft>
            </a:pPr>
            <a:r>
              <a:rPr sz="1150" b="1" i="0">
                <a:solidFill>
                  <a:srgbClr val="161A20"/>
                </a:solidFill>
                <a:latin typeface="Segoe UI"/>
              </a:rPr>
              <a:t>1,174 local checks, no model call</a:t>
            </a:r>
          </a:p>
          <a:p>
            <a:pPr>
              <a:spcAft>
                <a:spcPts val="700"/>
              </a:spcAft>
            </a:pPr>
            <a:r>
              <a:rPr sz="1050" b="0" i="0">
                <a:solidFill>
                  <a:srgbClr val="5F6A78"/>
                </a:solidFill>
                <a:latin typeface="Segoe UI"/>
              </a:rPr>
              <a:t>83 routing, 151 synthetic, 156 application, 357 runner, 91 engine, 198 evaluation, 138 integration</a:t>
            </a:r>
          </a:p>
          <a:p>
            <a:pPr>
              <a:spcAft>
                <a:spcPts val="100"/>
              </a:spcAft>
            </a:pPr>
            <a:r>
              <a:rPr sz="1150" b="1" i="0">
                <a:solidFill>
                  <a:srgbClr val="161A20"/>
                </a:solidFill>
                <a:latin typeface="Segoe UI"/>
              </a:rPr>
              <a:t>105 cases on the real Power Fx engine</a:t>
            </a:r>
          </a:p>
          <a:p>
            <a:pPr>
              <a:spcAft>
                <a:spcPts val="700"/>
              </a:spcAft>
            </a:pPr>
            <a:r>
              <a:rPr sz="1050" b="0" i="0">
                <a:solidFill>
                  <a:srgbClr val="5F6A78"/>
                </a:solidFill>
                <a:latin typeface="Segoe UI"/>
              </a:rPr>
              <a:t>dotnet run --project tests/powerfx_gate</a:t>
            </a:r>
          </a:p>
          <a:p>
            <a:pPr>
              <a:spcAft>
                <a:spcPts val="100"/>
              </a:spcAft>
            </a:pPr>
            <a:r>
              <a:rPr sz="1150" b="1" i="0">
                <a:solidFill>
                  <a:srgbClr val="161A20"/>
                </a:solidFill>
                <a:latin typeface="Segoe UI"/>
              </a:rPr>
              <a:t>94 read-only live configuration checks</a:t>
            </a:r>
          </a:p>
          <a:p>
            <a:pPr>
              <a:spcAft>
                <a:spcPts val="700"/>
              </a:spcAft>
            </a:pPr>
            <a:r>
              <a:rPr sz="1050" b="0" i="0">
                <a:solidFill>
                  <a:srgbClr val="5F6A78"/>
                </a:solidFill>
                <a:latin typeface="Segoe UI"/>
              </a:rPr>
              <a:t>python tests/verify_live_config.py, with your own Foundry resource</a:t>
            </a:r>
          </a:p>
          <a:p>
            <a:pPr>
              <a:spcAft>
                <a:spcPts val="100"/>
              </a:spcAft>
            </a:pPr>
            <a:r>
              <a:rPr sz="1150" b="1" i="0">
                <a:solidFill>
                  <a:srgbClr val="161A20"/>
                </a:solidFill>
                <a:latin typeface="Segoe UI"/>
              </a:rPr>
              <a:t>12 of 13 deterministic checks on the final run</a:t>
            </a:r>
          </a:p>
          <a:p>
            <a:pPr>
              <a:spcAft>
                <a:spcPts val="700"/>
              </a:spcAft>
            </a:pPr>
            <a:r>
              <a:rPr sz="1050" b="0" i="0">
                <a:solidFill>
                  <a:srgbClr val="5F6A78"/>
                </a:solidFill>
                <a:latin typeface="Segoe UI"/>
              </a:rPr>
              <a:t>python -m evaluation.run_checks. The one it fails is a root cause label that differs from the one I prepared in advance. I have left it as a failure.</a:t>
            </a:r>
          </a:p>
          <a:p>
            <a:pPr>
              <a:spcAft>
                <a:spcPts val="100"/>
              </a:spcAft>
            </a:pPr>
            <a:r>
              <a:rPr sz="1150" b="1" i="0">
                <a:solidFill>
                  <a:srgbClr val="161A20"/>
                </a:solidFill>
                <a:latin typeface="Segoe UI"/>
              </a:rPr>
              <a:t>Agent Framework parity, 11 of 11</a:t>
            </a:r>
          </a:p>
          <a:p>
            <a:pPr>
              <a:spcAft>
                <a:spcPts val="700"/>
              </a:spcAft>
            </a:pPr>
            <a:r>
              <a:rPr sz="1050" b="0" i="0">
                <a:solidFill>
                  <a:srgbClr val="5F6A78"/>
                </a:solidFill>
                <a:latin typeface="Segoe UI"/>
              </a:rPr>
              <a:t>python migration/agent_framework/parity_check.py</a:t>
            </a:r>
          </a:p>
        </p:txBody>
      </p:sp>
      <p:sp>
        <p:nvSpPr>
          <p:cNvPr id="6" name="TextBox 5"/>
          <p:cNvSpPr txBox="1"/>
          <p:nvPr/>
        </p:nvSpPr>
        <p:spPr>
          <a:xfrm>
            <a:off x="6263640" y="1737360"/>
            <a:ext cx="5394960" cy="4480560"/>
          </a:xfrm>
          <a:prstGeom prst="rect">
            <a:avLst/>
          </a:prstGeom>
          <a:noFill/>
        </p:spPr>
        <p:txBody>
          <a:bodyPr wrap="square" lIns="0" tIns="0" rIns="0" bIns="0">
            <a:spAutoFit/>
          </a:bodyPr>
          <a:lstStyle/>
          <a:p>
            <a:pPr>
              <a:spcAft>
                <a:spcPts val="600"/>
              </a:spcAft>
            </a:pPr>
            <a:r>
              <a:rPr sz="1100" b="1" i="0">
                <a:solidFill>
                  <a:srgbClr val="1A6A8F"/>
                </a:solidFill>
                <a:latin typeface="Segoe UI"/>
              </a:rPr>
              <a:t>COST, STATED CAREFULLY</a:t>
            </a:r>
          </a:p>
          <a:p>
            <a:pPr>
              <a:spcAft>
                <a:spcPts val="100"/>
              </a:spcAft>
            </a:pPr>
            <a:r>
              <a:rPr sz="1150" b="1" i="0">
                <a:solidFill>
                  <a:srgbClr val="161A20"/>
                </a:solidFill>
                <a:latin typeface="Segoe UI"/>
              </a:rPr>
              <a:t>About $0.13 provisional, three runs</a:t>
            </a:r>
          </a:p>
          <a:p>
            <a:pPr>
              <a:spcAft>
                <a:spcPts val="700"/>
              </a:spcAft>
            </a:pPr>
            <a:r>
              <a:rPr sz="1050" b="0" i="0">
                <a:solidFill>
                  <a:srgbClr val="5F6A78"/>
                </a:solidFill>
                <a:latin typeface="Segoe UI"/>
              </a:rPr>
              <a:t>186,614 tokens in and 42,155 out, at list price, from the usage Foundry returned.</a:t>
            </a:r>
          </a:p>
          <a:p>
            <a:pPr>
              <a:spcAft>
                <a:spcPts val="100"/>
              </a:spcAft>
            </a:pPr>
            <a:r>
              <a:rPr sz="1150" b="1" i="0">
                <a:solidFill>
                  <a:srgbClr val="161A20"/>
                </a:solidFill>
                <a:latin typeface="Segoe UI"/>
              </a:rPr>
              <a:t>Billed amount: not yet visible</a:t>
            </a:r>
          </a:p>
          <a:p>
            <a:pPr>
              <a:spcAft>
                <a:spcPts val="700"/>
              </a:spcAft>
            </a:pPr>
            <a:r>
              <a:rPr sz="1050" b="0" i="0">
                <a:solidFill>
                  <a:srgbClr val="5F6A78"/>
                </a:solidFill>
                <a:latin typeface="Segoe UI"/>
              </a:rPr>
              <a:t>Azure Cost Management returned no rows when queried. That is not a confirmed $0.00 and not a confirmed $0.13.</a:t>
            </a:r>
          </a:p>
          <a:p>
            <a:pPr>
              <a:spcAft>
                <a:spcPts val="100"/>
              </a:spcAft>
            </a:pPr>
            <a:r>
              <a:rPr sz="1150" b="1" i="0">
                <a:solidFill>
                  <a:srgbClr val="161A20"/>
                </a:solidFill>
                <a:latin typeface="Segoe UI"/>
              </a:rPr>
              <a:t>Microsoft's own meter agrees</a:t>
            </a:r>
          </a:p>
          <a:p>
            <a:pPr>
              <a:spcAft>
                <a:spcPts val="700"/>
              </a:spcAft>
            </a:pPr>
            <a:r>
              <a:rPr sz="1050" b="0" i="0">
                <a:solidFill>
                  <a:srgbClr val="5F6A78"/>
                </a:solidFill>
                <a:latin typeface="Segoe UI"/>
              </a:rPr>
              <a:t>Azure Monitor metrics and the platform's 61 trace spans report the same token counts, to the token, and 26 model requests. Read back, read only: evidence/platform_telemetry/</a:t>
            </a:r>
          </a:p>
          <a:p>
            <a:pPr>
              <a:spcAft>
                <a:spcPts val="100"/>
              </a:spcAft>
            </a:pPr>
            <a:r>
              <a:rPr sz="1150" b="1" i="0">
                <a:solidFill>
                  <a:srgbClr val="161A20"/>
                </a:solidFill>
                <a:latin typeface="Segoe UI"/>
              </a:rPr>
              <a:t>Nothing else was created</a:t>
            </a:r>
          </a:p>
          <a:p>
            <a:pPr>
              <a:spcAft>
                <a:spcPts val="700"/>
              </a:spcAft>
            </a:pPr>
            <a:r>
              <a:rPr sz="1050" b="0" i="0">
                <a:solidFill>
                  <a:srgbClr val="5F6A78"/>
                </a:solidFill>
                <a:latin typeface="Segoe UI"/>
              </a:rPr>
              <a:t>No embeddings, no evaluation runs, no new resources.</a:t>
            </a:r>
          </a:p>
          <a:p>
            <a:pPr>
              <a:spcAft>
                <a:spcPts val="100"/>
              </a:spcAft>
            </a:pPr>
            <a:r>
              <a:rPr sz="1150" b="1" i="0">
                <a:solidFill>
                  <a:srgbClr val="161A20"/>
                </a:solidFill>
                <a:latin typeface="Segoe UI"/>
              </a:rPr>
              <a:t>Read first</a:t>
            </a:r>
          </a:p>
          <a:p>
            <a:pPr>
              <a:spcAft>
                <a:spcPts val="700"/>
              </a:spcAft>
            </a:pPr>
            <a:r>
              <a:rPr sz="1050" b="0" i="0">
                <a:solidFill>
                  <a:srgbClr val="5F6A78"/>
                </a:solidFill>
                <a:latin typeface="Segoe UI"/>
              </a:rPr>
              <a:t>submission/final/JUDGE_NARRATIVE.md and docs/CURRENT_STATUS.md</a:t>
            </a:r>
          </a:p>
        </p:txBody>
      </p:sp>
      <p:sp>
        <p:nvSpPr>
          <p:cNvPr id="7" name="TextBox 6"/>
          <p:cNvSpPr txBox="1"/>
          <p:nvPr/>
        </p:nvSpPr>
        <p:spPr>
          <a:xfrm>
            <a:off x="502920" y="6035040"/>
            <a:ext cx="11155680" cy="329184"/>
          </a:xfrm>
          <a:prstGeom prst="rect">
            <a:avLst/>
          </a:prstGeom>
          <a:noFill/>
        </p:spPr>
        <p:txBody>
          <a:bodyPr wrap="square" lIns="0" tIns="0" rIns="0" bIns="0">
            <a:spAutoFit/>
          </a:bodyPr>
          <a:lstStyle/>
          <a:p>
            <a:pPr>
              <a:spcAft>
                <a:spcPts val="0"/>
              </a:spcAft>
            </a:pPr>
            <a:r>
              <a:rPr sz="1100" b="1" i="0">
                <a:solidFill>
                  <a:srgbClr val="1A6A8F"/>
                </a:solidFill>
                <a:latin typeface="Segoe UI"/>
              </a:rPr>
              <a:t>Repository  https://github.com/satyamamarpandey/GridResolve-AI-MS-Agentathon</a:t>
            </a:r>
          </a:p>
        </p:txBody>
      </p:sp>
      <p:sp>
        <p:nvSpPr>
          <p:cNvPr id="8" name="TextBox 7"/>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22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0789920" cy="301752"/>
          </a:xfrm>
          <a:prstGeom prst="rect">
            <a:avLst/>
          </a:prstGeom>
          <a:noFill/>
        </p:spPr>
        <p:txBody>
          <a:bodyPr wrap="square" lIns="0" tIns="0" rIns="0" bIns="0" anchor="ctr">
            <a:spAutoFit/>
          </a:bodyPr>
          <a:lstStyle/>
          <a:p>
            <a:pPr algn="l"/>
            <a:r>
              <a:rPr sz="1200" b="1">
                <a:solidFill>
                  <a:srgbClr val="1A6A8F"/>
                </a:solidFill>
                <a:latin typeface="Segoe UI"/>
              </a:rPr>
              <a:t>GRIDRESOLVE AI  |  FINAL RESULTS</a:t>
            </a:r>
          </a:p>
        </p:txBody>
      </p:sp>
      <p:sp>
        <p:nvSpPr>
          <p:cNvPr id="4" name="Rectangle 3"/>
          <p:cNvSpPr/>
          <p:nvPr/>
        </p:nvSpPr>
        <p:spPr>
          <a:xfrm>
            <a:off x="502920" y="1481328"/>
            <a:ext cx="11155680" cy="16459"/>
          </a:xfrm>
          <a:prstGeom prst="rect">
            <a:avLst/>
          </a:prstGeom>
          <a:solidFill>
            <a:srgbClr val="CB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19088"/>
            <a:ext cx="11155680" cy="283464"/>
          </a:xfrm>
          <a:prstGeom prst="rect">
            <a:avLst/>
          </a:prstGeom>
          <a:noFill/>
        </p:spPr>
        <p:txBody>
          <a:bodyPr wrap="square" lIns="0" tIns="0" rIns="0" bIns="0" anchor="ctr">
            <a:spAutoFit/>
          </a:bodyPr>
          <a:lstStyle/>
          <a:p>
            <a:pPr algn="l"/>
            <a:r>
              <a:rPr sz="900" b="0">
                <a:solidFill>
                  <a:srgbClr val="5F6A78"/>
                </a:solidFill>
                <a:latin typeface="Segoe UI"/>
              </a:rPr>
              <a:t>Microsoft Agent-a-thon, Level 3 Architect   |   Synthetic data only   |   Verified on hosted Foundry. Production path built and tested locally, not yet connected</a:t>
            </a:r>
          </a:p>
        </p:txBody>
      </p:sp>
      <p:sp>
        <p:nvSpPr>
          <p:cNvPr id="6" name="TextBox 5"/>
          <p:cNvSpPr txBox="1"/>
          <p:nvPr/>
        </p:nvSpPr>
        <p:spPr>
          <a:xfrm>
            <a:off x="502920" y="612648"/>
            <a:ext cx="10972800" cy="594360"/>
          </a:xfrm>
          <a:prstGeom prst="rect">
            <a:avLst/>
          </a:prstGeom>
          <a:noFill/>
        </p:spPr>
        <p:txBody>
          <a:bodyPr wrap="square" lIns="0" tIns="0" rIns="0" bIns="0" anchor="ctr">
            <a:spAutoFit/>
          </a:bodyPr>
          <a:lstStyle/>
          <a:p>
            <a:pPr algn="l"/>
            <a:r>
              <a:rPr sz="3100" b="1">
                <a:solidFill>
                  <a:srgbClr val="1E252D"/>
                </a:solidFill>
                <a:latin typeface="Segoe UI"/>
              </a:rPr>
              <a:t>Evidence before explanation.</a:t>
            </a:r>
          </a:p>
        </p:txBody>
      </p:sp>
      <p:sp>
        <p:nvSpPr>
          <p:cNvPr id="7" name="TextBox 6"/>
          <p:cNvSpPr txBox="1"/>
          <p:nvPr/>
        </p:nvSpPr>
        <p:spPr>
          <a:xfrm>
            <a:off x="502920" y="1097280"/>
            <a:ext cx="10972800" cy="329184"/>
          </a:xfrm>
          <a:prstGeom prst="rect">
            <a:avLst/>
          </a:prstGeom>
          <a:noFill/>
        </p:spPr>
        <p:txBody>
          <a:bodyPr wrap="square" lIns="0" tIns="0" rIns="0" bIns="0" anchor="ctr">
            <a:spAutoFit/>
          </a:bodyPr>
          <a:lstStyle/>
          <a:p>
            <a:pPr algn="l"/>
            <a:r>
              <a:rPr sz="1700" b="0">
                <a:solidFill>
                  <a:srgbClr val="5F6A78"/>
                </a:solidFill>
                <a:latin typeface="Segoe UI"/>
              </a:rPr>
              <a:t>Independent review before release. Human authority over consequential decisions.</a:t>
            </a:r>
          </a:p>
        </p:txBody>
      </p:sp>
      <p:sp>
        <p:nvSpPr>
          <p:cNvPr id="8" name="TextBox 7"/>
          <p:cNvSpPr txBox="1"/>
          <p:nvPr/>
        </p:nvSpPr>
        <p:spPr>
          <a:xfrm>
            <a:off x="502920" y="1746504"/>
            <a:ext cx="10789920" cy="347472"/>
          </a:xfrm>
          <a:prstGeom prst="rect">
            <a:avLst/>
          </a:prstGeom>
          <a:noFill/>
        </p:spPr>
        <p:txBody>
          <a:bodyPr wrap="square" lIns="0" tIns="0" rIns="0" bIns="0" anchor="ctr">
            <a:spAutoFit/>
          </a:bodyPr>
          <a:lstStyle/>
          <a:p>
            <a:pPr algn="l"/>
            <a:r>
              <a:rPr sz="1200" b="1">
                <a:solidFill>
                  <a:srgbClr val="1A6A8F"/>
                </a:solidFill>
                <a:latin typeface="Segoe UI"/>
              </a:rPr>
              <a:t>WHAT I VERIFIED</a:t>
            </a:r>
          </a:p>
        </p:txBody>
      </p:sp>
      <p:sp>
        <p:nvSpPr>
          <p:cNvPr id="9" name="Rectangle 8"/>
          <p:cNvSpPr/>
          <p:nvPr/>
        </p:nvSpPr>
        <p:spPr>
          <a:xfrm>
            <a:off x="502920" y="2157984"/>
            <a:ext cx="25786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286000"/>
            <a:ext cx="2231136" cy="438912"/>
          </a:xfrm>
          <a:prstGeom prst="rect">
            <a:avLst/>
          </a:prstGeom>
          <a:noFill/>
        </p:spPr>
        <p:txBody>
          <a:bodyPr wrap="square" lIns="0" tIns="0" rIns="0" bIns="0" anchor="ctr">
            <a:spAutoFit/>
          </a:bodyPr>
          <a:lstStyle/>
          <a:p>
            <a:pPr algn="l"/>
            <a:r>
              <a:rPr sz="2900" b="1">
                <a:solidFill>
                  <a:srgbClr val="1A6A8F"/>
                </a:solidFill>
                <a:latin typeface="Segoe UI"/>
              </a:rPr>
              <a:t>14 / 14</a:t>
            </a:r>
          </a:p>
        </p:txBody>
      </p:sp>
      <p:sp>
        <p:nvSpPr>
          <p:cNvPr id="12" name="TextBox 11"/>
          <p:cNvSpPr txBox="1"/>
          <p:nvPr/>
        </p:nvSpPr>
        <p:spPr>
          <a:xfrm>
            <a:off x="704088" y="2779776"/>
            <a:ext cx="2267712" cy="237744"/>
          </a:xfrm>
          <a:prstGeom prst="rect">
            <a:avLst/>
          </a:prstGeom>
          <a:noFill/>
        </p:spPr>
        <p:txBody>
          <a:bodyPr wrap="square" lIns="0" tIns="0" rIns="0" bIns="0" anchor="ctr">
            <a:spAutoFit/>
          </a:bodyPr>
          <a:lstStyle/>
          <a:p>
            <a:pPr algn="l"/>
            <a:r>
              <a:rPr sz="1300" b="1">
                <a:solidFill>
                  <a:srgbClr val="1E252D"/>
                </a:solidFill>
                <a:latin typeface="Segoe UI"/>
              </a:rPr>
              <a:t>Hosted acceptance</a:t>
            </a:r>
          </a:p>
        </p:txBody>
      </p:sp>
      <p:sp>
        <p:nvSpPr>
          <p:cNvPr id="13" name="Rectangle 12"/>
          <p:cNvSpPr/>
          <p:nvPr/>
        </p:nvSpPr>
        <p:spPr>
          <a:xfrm>
            <a:off x="3291840" y="2157984"/>
            <a:ext cx="25786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9184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2286000"/>
            <a:ext cx="2231136" cy="438912"/>
          </a:xfrm>
          <a:prstGeom prst="rect">
            <a:avLst/>
          </a:prstGeom>
          <a:noFill/>
        </p:spPr>
        <p:txBody>
          <a:bodyPr wrap="square" lIns="0" tIns="0" rIns="0" bIns="0" anchor="ctr">
            <a:spAutoFit/>
          </a:bodyPr>
          <a:lstStyle/>
          <a:p>
            <a:pPr algn="l"/>
            <a:r>
              <a:rPr sz="2900" b="1">
                <a:solidFill>
                  <a:srgbClr val="1A6A8F"/>
                </a:solidFill>
                <a:latin typeface="Segoe UI"/>
              </a:rPr>
              <a:t>1,174</a:t>
            </a:r>
          </a:p>
        </p:txBody>
      </p:sp>
      <p:sp>
        <p:nvSpPr>
          <p:cNvPr id="16" name="TextBox 15"/>
          <p:cNvSpPr txBox="1"/>
          <p:nvPr/>
        </p:nvSpPr>
        <p:spPr>
          <a:xfrm>
            <a:off x="3493008" y="2779776"/>
            <a:ext cx="2267712" cy="237744"/>
          </a:xfrm>
          <a:prstGeom prst="rect">
            <a:avLst/>
          </a:prstGeom>
          <a:noFill/>
        </p:spPr>
        <p:txBody>
          <a:bodyPr wrap="square" lIns="0" tIns="0" rIns="0" bIns="0" anchor="ctr">
            <a:spAutoFit/>
          </a:bodyPr>
          <a:lstStyle/>
          <a:p>
            <a:pPr algn="l"/>
            <a:r>
              <a:rPr sz="1300" b="1">
                <a:solidFill>
                  <a:srgbClr val="1E252D"/>
                </a:solidFill>
                <a:latin typeface="Segoe UI"/>
              </a:rPr>
              <a:t>Local checks</a:t>
            </a:r>
          </a:p>
        </p:txBody>
      </p:sp>
      <p:sp>
        <p:nvSpPr>
          <p:cNvPr id="17" name="Rectangle 16"/>
          <p:cNvSpPr/>
          <p:nvPr/>
        </p:nvSpPr>
        <p:spPr>
          <a:xfrm>
            <a:off x="6080760" y="2157984"/>
            <a:ext cx="25786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076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81928" y="2286000"/>
            <a:ext cx="2231136" cy="438912"/>
          </a:xfrm>
          <a:prstGeom prst="rect">
            <a:avLst/>
          </a:prstGeom>
          <a:noFill/>
        </p:spPr>
        <p:txBody>
          <a:bodyPr wrap="square" lIns="0" tIns="0" rIns="0" bIns="0" anchor="ctr">
            <a:spAutoFit/>
          </a:bodyPr>
          <a:lstStyle/>
          <a:p>
            <a:pPr algn="l"/>
            <a:r>
              <a:rPr sz="2900" b="1">
                <a:solidFill>
                  <a:srgbClr val="1A6A8F"/>
                </a:solidFill>
                <a:latin typeface="Segoe UI"/>
              </a:rPr>
              <a:t>105</a:t>
            </a:r>
          </a:p>
        </p:txBody>
      </p:sp>
      <p:sp>
        <p:nvSpPr>
          <p:cNvPr id="20" name="TextBox 19"/>
          <p:cNvSpPr txBox="1"/>
          <p:nvPr/>
        </p:nvSpPr>
        <p:spPr>
          <a:xfrm>
            <a:off x="6281928" y="2779776"/>
            <a:ext cx="2267712" cy="237744"/>
          </a:xfrm>
          <a:prstGeom prst="rect">
            <a:avLst/>
          </a:prstGeom>
          <a:noFill/>
        </p:spPr>
        <p:txBody>
          <a:bodyPr wrap="square" lIns="0" tIns="0" rIns="0" bIns="0" anchor="ctr">
            <a:spAutoFit/>
          </a:bodyPr>
          <a:lstStyle/>
          <a:p>
            <a:pPr algn="l"/>
            <a:r>
              <a:rPr sz="1300" b="1">
                <a:solidFill>
                  <a:srgbClr val="1E252D"/>
                </a:solidFill>
                <a:latin typeface="Segoe UI"/>
              </a:rPr>
              <a:t>Power Fx cases</a:t>
            </a:r>
          </a:p>
        </p:txBody>
      </p:sp>
      <p:sp>
        <p:nvSpPr>
          <p:cNvPr id="21" name="Rectangle 20"/>
          <p:cNvSpPr/>
          <p:nvPr/>
        </p:nvSpPr>
        <p:spPr>
          <a:xfrm>
            <a:off x="8869680" y="2157984"/>
            <a:ext cx="2788920"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86968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70848" y="2286000"/>
            <a:ext cx="2441448" cy="438912"/>
          </a:xfrm>
          <a:prstGeom prst="rect">
            <a:avLst/>
          </a:prstGeom>
          <a:noFill/>
        </p:spPr>
        <p:txBody>
          <a:bodyPr wrap="square" lIns="0" tIns="0" rIns="0" bIns="0" anchor="ctr">
            <a:spAutoFit/>
          </a:bodyPr>
          <a:lstStyle/>
          <a:p>
            <a:pPr algn="l"/>
            <a:r>
              <a:rPr sz="2900" b="1">
                <a:solidFill>
                  <a:srgbClr val="1A6A8F"/>
                </a:solidFill>
                <a:latin typeface="Segoe UI"/>
              </a:rPr>
              <a:t>11 / 11</a:t>
            </a:r>
          </a:p>
        </p:txBody>
      </p:sp>
      <p:sp>
        <p:nvSpPr>
          <p:cNvPr id="24" name="TextBox 23"/>
          <p:cNvSpPr txBox="1"/>
          <p:nvPr/>
        </p:nvSpPr>
        <p:spPr>
          <a:xfrm>
            <a:off x="9070848" y="2779776"/>
            <a:ext cx="2478024" cy="237744"/>
          </a:xfrm>
          <a:prstGeom prst="rect">
            <a:avLst/>
          </a:prstGeom>
          <a:noFill/>
        </p:spPr>
        <p:txBody>
          <a:bodyPr wrap="square" lIns="0" tIns="0" rIns="0" bIns="0" anchor="ctr">
            <a:spAutoFit/>
          </a:bodyPr>
          <a:lstStyle/>
          <a:p>
            <a:pPr algn="l"/>
            <a:r>
              <a:rPr sz="1300" b="1">
                <a:solidFill>
                  <a:srgbClr val="1E252D"/>
                </a:solidFill>
                <a:latin typeface="Segoe UI"/>
              </a:rPr>
              <a:t>Migration parity</a:t>
            </a:r>
          </a:p>
        </p:txBody>
      </p:sp>
      <p:sp>
        <p:nvSpPr>
          <p:cNvPr id="25" name="Rectangle 24"/>
          <p:cNvSpPr/>
          <p:nvPr/>
        </p:nvSpPr>
        <p:spPr>
          <a:xfrm>
            <a:off x="502920" y="3694176"/>
            <a:ext cx="11155680" cy="1243584"/>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3877056"/>
            <a:ext cx="10241280" cy="310896"/>
          </a:xfrm>
          <a:prstGeom prst="rect">
            <a:avLst/>
          </a:prstGeom>
          <a:noFill/>
        </p:spPr>
        <p:txBody>
          <a:bodyPr wrap="square" lIns="0" tIns="0" rIns="0" bIns="0" anchor="ctr">
            <a:spAutoFit/>
          </a:bodyPr>
          <a:lstStyle/>
          <a:p>
            <a:pPr algn="l"/>
            <a:r>
              <a:rPr sz="1800" b="1">
                <a:solidFill>
                  <a:srgbClr val="1E252D"/>
                </a:solidFill>
                <a:latin typeface="Segoe UI"/>
              </a:rPr>
              <a:t>Built for verifiable decisions, not automated agreement.</a:t>
            </a:r>
          </a:p>
        </p:txBody>
      </p:sp>
      <p:sp>
        <p:nvSpPr>
          <p:cNvPr id="27" name="TextBox 26"/>
          <p:cNvSpPr txBox="1"/>
          <p:nvPr/>
        </p:nvSpPr>
        <p:spPr>
          <a:xfrm>
            <a:off x="749808" y="4315968"/>
            <a:ext cx="10241280" cy="338328"/>
          </a:xfrm>
          <a:prstGeom prst="rect">
            <a:avLst/>
          </a:prstGeom>
          <a:noFill/>
        </p:spPr>
        <p:txBody>
          <a:bodyPr wrap="square" lIns="0" tIns="0" rIns="0" bIns="0" anchor="ctr">
            <a:spAutoFit/>
          </a:bodyPr>
          <a:lstStyle/>
          <a:p>
            <a:pPr algn="l"/>
            <a:r>
              <a:rPr sz="1300" b="0">
                <a:solidFill>
                  <a:srgbClr val="5F6A78"/>
                </a:solidFill>
                <a:latin typeface="Segoe UI"/>
              </a:rPr>
              <a:t>Nine hosted agents, an independently enforced release gate, and a separate Billing Supervisor review package.</a:t>
            </a:r>
          </a:p>
        </p:txBody>
      </p:sp>
      <p:sp>
        <p:nvSpPr>
          <p:cNvPr id="28" name="TextBox 27"/>
          <p:cNvSpPr txBox="1"/>
          <p:nvPr/>
        </p:nvSpPr>
        <p:spPr>
          <a:xfrm>
            <a:off x="502920" y="5274525"/>
            <a:ext cx="10972800" cy="323165"/>
          </a:xfrm>
          <a:prstGeom prst="rect">
            <a:avLst/>
          </a:prstGeom>
          <a:noFill/>
        </p:spPr>
        <p:txBody>
          <a:bodyPr wrap="square" lIns="0" tIns="0" rIns="0" bIns="0" anchor="ctr">
            <a:spAutoFit/>
          </a:bodyPr>
          <a:lstStyle/>
          <a:p>
            <a:pPr algn="l"/>
            <a:r>
              <a:rPr sz="2100" b="1" dirty="0">
                <a:solidFill>
                  <a:srgbClr val="1A6A8F"/>
                </a:solidFill>
                <a:latin typeface="Segoe UI"/>
              </a:rPr>
              <a:t>Thank you.</a:t>
            </a:r>
          </a:p>
        </p:txBody>
      </p:sp>
      <p:sp>
        <p:nvSpPr>
          <p:cNvPr id="29" name="TextBox 28"/>
          <p:cNvSpPr txBox="1"/>
          <p:nvPr/>
        </p:nvSpPr>
        <p:spPr>
          <a:xfrm>
            <a:off x="502920" y="5869555"/>
            <a:ext cx="10972800" cy="184666"/>
          </a:xfrm>
          <a:prstGeom prst="rect">
            <a:avLst/>
          </a:prstGeom>
          <a:noFill/>
        </p:spPr>
        <p:txBody>
          <a:bodyPr wrap="square" lIns="0" tIns="0" rIns="0" bIns="0" anchor="ctr">
            <a:spAutoFit/>
          </a:bodyPr>
          <a:lstStyle/>
          <a:p>
            <a:pPr algn="l"/>
            <a:r>
              <a:rPr sz="1200" b="0" dirty="0">
                <a:solidFill>
                  <a:srgbClr val="5F6A78"/>
                </a:solidFill>
                <a:latin typeface="Segoe UI"/>
                <a:hlinkClick r:id="rId2"/>
              </a:rPr>
              <a:t>github.com/</a:t>
            </a:r>
            <a:r>
              <a:rPr sz="1200" b="0" dirty="0" err="1">
                <a:solidFill>
                  <a:srgbClr val="5F6A78"/>
                </a:solidFill>
                <a:latin typeface="Segoe UI"/>
                <a:hlinkClick r:id="rId2"/>
              </a:rPr>
              <a:t>satyamamarpandey</a:t>
            </a:r>
            <a:r>
              <a:rPr sz="1200" b="0" dirty="0">
                <a:solidFill>
                  <a:srgbClr val="5F6A78"/>
                </a:solidFill>
                <a:latin typeface="Segoe UI"/>
                <a:hlinkClick r:id="rId2"/>
              </a:rPr>
              <a:t>/</a:t>
            </a:r>
            <a:r>
              <a:rPr sz="1200" b="0" dirty="0" err="1">
                <a:solidFill>
                  <a:srgbClr val="5F6A78"/>
                </a:solidFill>
                <a:latin typeface="Segoe UI"/>
                <a:hlinkClick r:id="rId2"/>
              </a:rPr>
              <a:t>GridResolve</a:t>
            </a:r>
            <a:r>
              <a:rPr sz="1200" b="0" dirty="0">
                <a:solidFill>
                  <a:srgbClr val="5F6A78"/>
                </a:solidFill>
                <a:latin typeface="Segoe UI"/>
                <a:hlinkClick r:id="rId2"/>
              </a:rPr>
              <a:t>-AI-MS-</a:t>
            </a:r>
            <a:r>
              <a:rPr sz="1200" b="0" dirty="0" err="1">
                <a:solidFill>
                  <a:srgbClr val="5F6A78"/>
                </a:solidFill>
                <a:latin typeface="Segoe UI"/>
                <a:hlinkClick r:id="rId2"/>
              </a:rPr>
              <a:t>Agentathon</a:t>
            </a:r>
            <a:endParaRPr sz="1200" b="0" dirty="0">
              <a:solidFill>
                <a:srgbClr val="5F6A78"/>
              </a:solidFill>
              <a:latin typeface="Segoe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2503</Words>
  <Application>Microsoft Office PowerPoint</Application>
  <PresentationFormat>Widescreen</PresentationFormat>
  <Paragraphs>239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Satyam Pandey</dc:creator>
  <cp:keywords/>
  <dc:description>generated using python-pptx</dc:description>
  <cp:lastModifiedBy>Satyam Pandey</cp:lastModifiedBy>
  <cp:revision>2</cp:revision>
  <dcterms:created xsi:type="dcterms:W3CDTF">2013-01-27T09:14:16Z</dcterms:created>
  <dcterms:modified xsi:type="dcterms:W3CDTF">2026-09-21T19:10:12Z</dcterms:modified>
  <cp:category/>
</cp:coreProperties>
</file>